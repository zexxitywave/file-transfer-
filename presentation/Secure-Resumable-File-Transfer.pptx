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18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76895" y="0"/>
            <a:ext cx="4114800" cy="6858000"/>
          </a:xfrm>
          <a:prstGeom prst="rect">
            <a:avLst/>
          </a:prstGeom>
          <a:solidFill>
            <a:srgbClr val="1028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207008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2C8D8"/>
                </a:solidFill>
                <a:latin typeface="Segoe UI Semibold"/>
              </a:rPr>
              <a:t>CAPSTONE PROJECT  ·  SECURE FILE TRANSFER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600200"/>
            <a:ext cx="70408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800" b="1" i="0">
                <a:solidFill>
                  <a:srgbClr val="FFFFFF"/>
                </a:solidFill>
                <a:latin typeface="Segoe UI Semibold"/>
              </a:rPr>
              <a:t>Secure Resumable</a:t>
            </a:r>
          </a:p>
          <a:p>
            <a:pPr algn="l">
              <a:lnSpc>
                <a:spcPct val="95000"/>
              </a:lnSpc>
            </a:pPr>
            <a:r>
              <a:rPr sz="4800" b="1" i="0">
                <a:solidFill>
                  <a:srgbClr val="FFFFFF"/>
                </a:solidFill>
                <a:latin typeface="Segoe UI Semibold"/>
              </a:rPr>
              <a:t>File Transfer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3310128"/>
            <a:ext cx="1371600" cy="45720"/>
          </a:xfrm>
          <a:prstGeom prst="rect">
            <a:avLst/>
          </a:prstGeom>
          <a:solidFill>
            <a:srgbClr val="118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584448"/>
            <a:ext cx="6675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 i="0">
                <a:solidFill>
                  <a:srgbClr val="B8CADE"/>
                </a:solidFill>
                <a:latin typeface="Segoe UI"/>
              </a:rPr>
              <a:t>A C++20 client–server file transfer tool with end-to-end TLS encryption, automatic resumption after a dropped connection, and SHA-256 integrity verification on every upload.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4553712"/>
            <a:ext cx="1170432" cy="329184"/>
          </a:xfrm>
          <a:prstGeom prst="roundRect">
            <a:avLst>
              <a:gd name="adj" fmla="val 5000"/>
            </a:avLst>
          </a:prstGeom>
          <a:solidFill>
            <a:srgbClr val="17385F"/>
          </a:solidFill>
          <a:ln w="12700">
            <a:solidFill>
              <a:srgbClr val="2C5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1050" b="1">
                <a:solidFill>
                  <a:srgbClr val="9ED8E6"/>
                </a:solidFill>
                <a:latin typeface="Segoe UI Semibold"/>
              </a:rPr>
              <a:t>C++20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76856" y="4553712"/>
            <a:ext cx="1170432" cy="329184"/>
          </a:xfrm>
          <a:prstGeom prst="roundRect">
            <a:avLst>
              <a:gd name="adj" fmla="val 5000"/>
            </a:avLst>
          </a:prstGeom>
          <a:solidFill>
            <a:srgbClr val="17385F"/>
          </a:solidFill>
          <a:ln w="12700">
            <a:solidFill>
              <a:srgbClr val="2C5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1050" b="1">
                <a:solidFill>
                  <a:srgbClr val="9ED8E6"/>
                </a:solidFill>
                <a:latin typeface="Segoe UI Semibold"/>
              </a:rPr>
              <a:t>TLS 1.2+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93592" y="4553712"/>
            <a:ext cx="1170432" cy="329184"/>
          </a:xfrm>
          <a:prstGeom prst="roundRect">
            <a:avLst>
              <a:gd name="adj" fmla="val 5000"/>
            </a:avLst>
          </a:prstGeom>
          <a:solidFill>
            <a:srgbClr val="17385F"/>
          </a:solidFill>
          <a:ln w="12700">
            <a:solidFill>
              <a:srgbClr val="2C5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1050" b="1">
                <a:solidFill>
                  <a:srgbClr val="9ED8E6"/>
                </a:solidFill>
                <a:latin typeface="Segoe UI Semibold"/>
              </a:rPr>
              <a:t>SHA-256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10328" y="4553712"/>
            <a:ext cx="1170432" cy="329184"/>
          </a:xfrm>
          <a:prstGeom prst="roundRect">
            <a:avLst>
              <a:gd name="adj" fmla="val 5000"/>
            </a:avLst>
          </a:prstGeom>
          <a:solidFill>
            <a:srgbClr val="17385F"/>
          </a:solidFill>
          <a:ln w="12700">
            <a:solidFill>
              <a:srgbClr val="2C5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1050" b="1">
                <a:solidFill>
                  <a:srgbClr val="9ED8E6"/>
                </a:solidFill>
                <a:latin typeface="Segoe UI Semibold"/>
              </a:rPr>
              <a:t>Resumable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7064" y="4553712"/>
            <a:ext cx="1170432" cy="329184"/>
          </a:xfrm>
          <a:prstGeom prst="roundRect">
            <a:avLst>
              <a:gd name="adj" fmla="val 5000"/>
            </a:avLst>
          </a:prstGeom>
          <a:solidFill>
            <a:srgbClr val="17385F"/>
          </a:solidFill>
          <a:ln w="12700">
            <a:solidFill>
              <a:srgbClr val="2C5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1050" b="1">
                <a:solidFill>
                  <a:srgbClr val="9ED8E6"/>
                </a:solidFill>
                <a:latin typeface="Segoe UI Semibold"/>
              </a:rPr>
              <a:t>CMake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9815" y="137160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18AA0"/>
                </a:solidFill>
                <a:latin typeface="Segoe UI Semibold"/>
              </a:rPr>
              <a:t>Presented by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9815" y="1737360"/>
            <a:ext cx="3200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1" i="0">
                <a:solidFill>
                  <a:srgbClr val="FFFFFF"/>
                </a:solidFill>
                <a:latin typeface="Segoe UI Semibold"/>
              </a:rPr>
              <a:t>[ Your Full Name ]</a:t>
            </a:r>
          </a:p>
          <a:p>
            <a:pPr algn="l">
              <a:lnSpc>
                <a:spcPct val="142000"/>
              </a:lnSpc>
            </a:pPr>
            <a:r>
              <a:rPr sz="1600" b="1" i="0">
                <a:solidFill>
                  <a:srgbClr val="FFFFFF"/>
                </a:solidFill>
                <a:latin typeface="Segoe UI Semibold"/>
              </a:rPr>
              <a:t>[ Roll No / Regd. No ]</a:t>
            </a:r>
          </a:p>
          <a:p>
            <a:pPr algn="l">
              <a:lnSpc>
                <a:spcPct val="142000"/>
              </a:lnSpc>
            </a:pPr>
            <a:r>
              <a:rPr sz="1600" b="1" i="0">
                <a:solidFill>
                  <a:srgbClr val="FFFFFF"/>
                </a:solidFill>
                <a:latin typeface="Segoe UI Semibold"/>
              </a:rPr>
              <a:t>[ Department, College 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9815" y="331012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18AA0"/>
                </a:solidFill>
                <a:latin typeface="Segoe UI Semibold"/>
              </a:rPr>
              <a:t>Project Guide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9815" y="3675887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 Semibold"/>
              </a:rPr>
              <a:t>[ Faculty Name 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79815" y="4443984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18AA0"/>
                </a:solidFill>
                <a:latin typeface="Segoe UI Semibold"/>
              </a:rPr>
              <a:t>Repository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79815" y="4809744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B8CADE"/>
                </a:solidFill>
                <a:latin typeface="Consolas"/>
              </a:rPr>
              <a:t>github.com/zexxitywave/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B8CADE"/>
                </a:solidFill>
                <a:latin typeface="Consolas"/>
              </a:rPr>
              <a:t>File-transfer-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87044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A96A8"/>
                </a:solidFill>
                <a:latin typeface="Segoe UI"/>
              </a:rPr>
              <a:t>Version 1.0.0  · 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6A8"/>
                </a:solidFill>
                <a:latin typeface="Segoe UI"/>
              </a:rPr>
              <a:t>Secure Resumable File Transfer  ·  v1.0.0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10367" y="6437376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6A8"/>
                </a:solidFill>
                <a:latin typeface="Segoe UI"/>
              </a:rPr>
              <a:t>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69264"/>
            <a:ext cx="12191695" cy="50292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7160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7EB4F0"/>
                </a:solidFill>
                <a:latin typeface="Segoe UI Semibold"/>
              </a:rPr>
              <a:t>WHAT THIS TALK COVERS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74904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 Semibold"/>
              </a:rPr>
              <a:t>Agenda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71600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E6FD9"/>
                </a:solidFill>
                <a:latin typeface="Segoe UI Semibol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1371600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F3A"/>
                </a:solidFill>
                <a:latin typeface="Segoe UI Semibold"/>
              </a:rPr>
              <a:t>Problem &amp; Motivation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28416" y="1389888"/>
            <a:ext cx="27706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A96A8"/>
                </a:solidFill>
                <a:latin typeface="Segoe UI"/>
              </a:rPr>
              <a:t>Why a plain FTP upload is not good enough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837944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E6FD9"/>
                </a:solidFill>
                <a:latin typeface="Segoe UI Semibold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1837944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F3A"/>
                </a:solidFill>
                <a:latin typeface="Segoe UI Semibold"/>
              </a:rPr>
              <a:t>Objectives &amp;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28416" y="1856232"/>
            <a:ext cx="27706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A96A8"/>
                </a:solidFill>
                <a:latin typeface="Segoe UI"/>
              </a:rPr>
              <a:t>What the system must and must not 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2304288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E6FD9"/>
                </a:solidFill>
                <a:latin typeface="Segoe UI Semibold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" y="2304288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F3A"/>
                </a:solidFill>
                <a:latin typeface="Segoe UI Semibold"/>
              </a:rPr>
              <a:t>Technology Stack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28416" y="2322576"/>
            <a:ext cx="27706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A96A8"/>
                </a:solidFill>
                <a:latin typeface="Segoe UI"/>
              </a:rPr>
              <a:t>Languages, libraries and tooling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2770632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E6FD9"/>
                </a:solidFill>
                <a:latin typeface="Segoe UI Semibold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" y="2770632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F3A"/>
                </a:solidFill>
                <a:latin typeface="Segoe UI Semibold"/>
              </a:rPr>
              <a:t>System Architecture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28416" y="2788920"/>
            <a:ext cx="27706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A96A8"/>
                </a:solidFill>
                <a:latin typeface="Segoe UI"/>
              </a:rPr>
              <a:t>Six layers, one-directional dependencies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3236976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E6FD9"/>
                </a:solidFill>
                <a:latin typeface="Segoe UI Semibold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3236976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F3A"/>
                </a:solidFill>
                <a:latin typeface="Segoe UI Semibold"/>
              </a:rPr>
              <a:t>Wire Protocol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28416" y="3255264"/>
            <a:ext cx="27706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A96A8"/>
                </a:solidFill>
                <a:latin typeface="Segoe UI"/>
              </a:rPr>
              <a:t>The handshake and the 64 KB chunk loop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3703320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E6FD9"/>
                </a:solidFill>
                <a:latin typeface="Segoe UI Semibold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" y="3703320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F3A"/>
                </a:solidFill>
                <a:latin typeface="Segoe UI Semibold"/>
              </a:rPr>
              <a:t>Core Features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28416" y="3721608"/>
            <a:ext cx="27706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A96A8"/>
                </a:solidFill>
                <a:latin typeface="Segoe UI"/>
              </a:rPr>
              <a:t>TLS, resumption, integrity, concurrency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4169664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E6FD9"/>
                </a:solidFill>
                <a:latin typeface="Segoe UI Semibold"/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" y="4169664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F3A"/>
                </a:solidFill>
                <a:latin typeface="Segoe UI Semibold"/>
              </a:rPr>
              <a:t>Security Design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28416" y="4187952"/>
            <a:ext cx="27706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A96A8"/>
                </a:solidFill>
                <a:latin typeface="Segoe UI"/>
              </a:rPr>
              <a:t>Controls and honest threat-model limits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1656" y="1371600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E6FD9"/>
                </a:solidFill>
                <a:latin typeface="Segoe UI Semibold"/>
              </a:rP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03136" y="1371600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F3A"/>
                </a:solidFill>
                <a:latin typeface="Segoe UI Semibold"/>
              </a:rPr>
              <a:t>Testing &amp; Results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53144" y="1389888"/>
            <a:ext cx="27706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A96A8"/>
                </a:solidFill>
                <a:latin typeface="Segoe UI"/>
              </a:rPr>
              <a:t>51 end-to-end checks and measured throughput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91656" y="1837944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E6FD9"/>
                </a:solidFill>
                <a:latin typeface="Segoe UI Semibold"/>
              </a:rPr>
              <a:t>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03136" y="1837944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F3A"/>
                </a:solidFill>
                <a:latin typeface="Segoe UI Semibold"/>
              </a:rPr>
              <a:t>Defects Found &amp; Fixed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53144" y="1856232"/>
            <a:ext cx="27706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A96A8"/>
                </a:solidFill>
                <a:latin typeface="Segoe UI"/>
              </a:rPr>
              <a:t>8 real bugs the suite caught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91656" y="2304288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E6FD9"/>
                </a:solidFill>
                <a:latin typeface="Segoe UI Semibold"/>
              </a:rPr>
              <a:t>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03136" y="2304288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F3A"/>
                </a:solidFill>
                <a:latin typeface="Segoe UI Semibold"/>
              </a:rPr>
              <a:t>CI/CD Pipeline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53144" y="2322576"/>
            <a:ext cx="27706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A96A8"/>
                </a:solidFill>
                <a:latin typeface="Segoe UI"/>
              </a:rPr>
              <a:t>GitHub Actions on Linux and Windows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91656" y="2770632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E6FD9"/>
                </a:solidFill>
                <a:latin typeface="Segoe UI Semibold"/>
              </a:rPr>
              <a:t>11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03136" y="2770632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F3A"/>
                </a:solidFill>
                <a:latin typeface="Segoe UI Semibold"/>
              </a:rPr>
              <a:t>Design Decisions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53144" y="2788920"/>
            <a:ext cx="27706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A96A8"/>
                </a:solidFill>
                <a:latin typeface="Segoe UI"/>
              </a:rPr>
              <a:t>Alternatives rejected, and why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91656" y="3236976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E6FD9"/>
                </a:solidFill>
                <a:latin typeface="Segoe UI Semibold"/>
              </a:rPr>
              <a:t>12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03136" y="3236976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F3A"/>
                </a:solidFill>
                <a:latin typeface="Segoe UI Semibold"/>
              </a:rPr>
              <a:t>Challenges &amp; Learnings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53144" y="3255264"/>
            <a:ext cx="27706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A96A8"/>
                </a:solidFill>
                <a:latin typeface="Segoe UI"/>
              </a:rPr>
              <a:t>The hard parts, honestly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91656" y="3703320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E6FD9"/>
                </a:solidFill>
                <a:latin typeface="Segoe UI Semibold"/>
              </a:rPr>
              <a:t>13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03136" y="3703320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F3A"/>
                </a:solidFill>
                <a:latin typeface="Segoe UI Semibold"/>
              </a:rPr>
              <a:t>Limitations &amp; Future Scope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53144" y="3721608"/>
            <a:ext cx="27706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A96A8"/>
                </a:solidFill>
                <a:latin typeface="Segoe UI"/>
              </a:rPr>
              <a:t>What is not built yet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91656" y="4169664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E6FD9"/>
                </a:solidFill>
                <a:latin typeface="Segoe UI Semibold"/>
              </a:rPr>
              <a:t>14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03136" y="4169664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F3A"/>
                </a:solidFill>
                <a:latin typeface="Segoe UI Semibold"/>
              </a:rPr>
              <a:t>Demo, Conclusion &amp; Q&amp;A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53144" y="4187952"/>
            <a:ext cx="27706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A96A8"/>
                </a:solidFill>
                <a:latin typeface="Segoe UI"/>
              </a:rPr>
              <a:t>Live run of the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6A8"/>
                </a:solidFill>
                <a:latin typeface="Segoe UI"/>
              </a:rPr>
              <a:t>Secure Resumable File Transfer  ·  v1.0.0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10367" y="6437376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6A8"/>
                </a:solidFill>
                <a:latin typeface="Segoe UI"/>
              </a:rPr>
              <a:t>3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69264"/>
            <a:ext cx="12191695" cy="50292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7160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7EB4F0"/>
                </a:solidFill>
                <a:latin typeface="Segoe UI Semibold"/>
              </a:rPr>
              <a:t>01  ·  WHY THIS PROJECT EXISTS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74904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 Semibold"/>
              </a:rPr>
              <a:t>Problem &amp; Motivation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98448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F3A"/>
                </a:solidFill>
                <a:latin typeface="Segoe UI Semibold"/>
              </a:rPr>
              <a:t>The problems with a conventional FTP upload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64208"/>
            <a:ext cx="690372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350">
                <a:solidFill>
                  <a:srgbClr val="1E6FD9"/>
                </a:solidFill>
                <a:latin typeface="Segoe UI"/>
              </a:rPr>
              <a:t>•  </a:t>
            </a:r>
            <a:r>
              <a:rPr sz="1350" b="1">
                <a:solidFill>
                  <a:srgbClr val="0B1F3A"/>
                </a:solidFill>
                <a:latin typeface="Segoe UI Semibold"/>
              </a:rPr>
              <a:t>Cleartext on the wire.</a:t>
            </a:r>
            <a:r>
              <a:rPr sz="1350">
                <a:solidFill>
                  <a:srgbClr val="4A5568"/>
                </a:solidFill>
                <a:latin typeface="Segoe UI"/>
              </a:rPr>
              <a:t>  FTP sends the username, the password and the file contents in plain text. Anyone on the path can read all of it.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350">
                <a:solidFill>
                  <a:srgbClr val="1E6FD9"/>
                </a:solidFill>
                <a:latin typeface="Segoe UI"/>
              </a:rPr>
              <a:t>•  </a:t>
            </a:r>
            <a:r>
              <a:rPr sz="1350" b="1">
                <a:solidFill>
                  <a:srgbClr val="0B1F3A"/>
                </a:solidFill>
                <a:latin typeface="Segoe UI Semibold"/>
              </a:rPr>
              <a:t>No resumption.</a:t>
            </a:r>
            <a:r>
              <a:rPr sz="1350">
                <a:solidFill>
                  <a:srgbClr val="4A5568"/>
                </a:solidFill>
                <a:latin typeface="Segoe UI"/>
              </a:rPr>
              <a:t>  A dropped connection means the transfer restarts from byte zero. On a large file that wastes the bandwidth and the time already spent.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350">
                <a:solidFill>
                  <a:srgbClr val="1E6FD9"/>
                </a:solidFill>
                <a:latin typeface="Segoe UI"/>
              </a:rPr>
              <a:t>•  </a:t>
            </a:r>
            <a:r>
              <a:rPr sz="1350" b="1">
                <a:solidFill>
                  <a:srgbClr val="0B1F3A"/>
                </a:solidFill>
                <a:latin typeface="Segoe UI Semibold"/>
              </a:rPr>
              <a:t>Unverified delivery.</a:t>
            </a:r>
            <a:r>
              <a:rPr sz="1350">
                <a:solidFill>
                  <a:srgbClr val="4A5568"/>
                </a:solidFill>
                <a:latin typeface="Segoe UI"/>
              </a:rPr>
              <a:t>  Most tools declare success once a write() call returns. Nothing proves the bytes that actually landed on disk are correct.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350">
                <a:solidFill>
                  <a:srgbClr val="1E6FD9"/>
                </a:solidFill>
                <a:latin typeface="Segoe UI"/>
              </a:rPr>
              <a:t>•  </a:t>
            </a:r>
            <a:r>
              <a:rPr sz="1350" b="1">
                <a:solidFill>
                  <a:srgbClr val="0B1F3A"/>
                </a:solidFill>
                <a:latin typeface="Segoe UI Semibold"/>
              </a:rPr>
              <a:t>Silent corruption under concurrency.</a:t>
            </a:r>
            <a:r>
              <a:rPr sz="1350">
                <a:solidFill>
                  <a:srgbClr val="4A5568"/>
                </a:solidFill>
                <a:latin typeface="Segoe UI"/>
              </a:rPr>
              <a:t>  Two clients writing the same destination interleave their chunks into one mangled file, with no error.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350">
                <a:solidFill>
                  <a:srgbClr val="1E6FD9"/>
                </a:solidFill>
                <a:latin typeface="Segoe UI"/>
              </a:rPr>
              <a:t>•  </a:t>
            </a:r>
            <a:r>
              <a:rPr sz="1350" b="1">
                <a:solidFill>
                  <a:srgbClr val="0B1F3A"/>
                </a:solidFill>
                <a:latin typeface="Segoe UI Semibold"/>
              </a:rPr>
              <a:t>Unsafe file names.</a:t>
            </a:r>
            <a:r>
              <a:rPr sz="1350">
                <a:solidFill>
                  <a:srgbClr val="4A5568"/>
                </a:solidFill>
                <a:latin typeface="Segoe UI"/>
              </a:rPr>
              <a:t>  A name containing path separators lets a client choose where it writes on the server.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1298448"/>
            <a:ext cx="3886200" cy="3383280"/>
          </a:xfrm>
          <a:prstGeom prst="roundRect">
            <a:avLst>
              <a:gd name="adj" fmla="val 4000"/>
            </a:avLst>
          </a:prstGeom>
          <a:solidFill>
            <a:srgbClr val="EC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26679" y="1298448"/>
            <a:ext cx="50292" cy="3383280"/>
          </a:xfrm>
          <a:prstGeom prst="rect">
            <a:avLst/>
          </a:prstGeom>
          <a:solidFill>
            <a:srgbClr val="118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46135" y="1444752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F3A"/>
                </a:solidFill>
                <a:latin typeface="Segoe UI Semibold"/>
              </a:rPr>
              <a:t>The requirement from the brief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46135" y="1828800"/>
            <a:ext cx="35021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150">
                <a:solidFill>
                  <a:srgbClr val="1E6FD9"/>
                </a:solidFill>
                <a:latin typeface="Segoe UI"/>
              </a:rPr>
              <a:t>•  </a:t>
            </a:r>
            <a:r>
              <a:rPr sz="1150">
                <a:solidFill>
                  <a:srgbClr val="4A5568"/>
                </a:solidFill>
                <a:latin typeface="Segoe UI"/>
              </a:rPr>
              <a:t/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150">
                <a:solidFill>
                  <a:srgbClr val="1E6FD9"/>
                </a:solidFill>
                <a:latin typeface="Segoe UI"/>
              </a:rPr>
              <a:t>•  </a:t>
            </a:r>
            <a:r>
              <a:rPr sz="1150">
                <a:solidFill>
                  <a:srgbClr val="4A5568"/>
                </a:solidFill>
                <a:latin typeface="Segoe UI"/>
              </a:rPr>
              <a:t/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150">
                <a:solidFill>
                  <a:srgbClr val="1E6FD9"/>
                </a:solidFill>
                <a:latin typeface="Segoe UI"/>
              </a:rPr>
              <a:t>•  </a:t>
            </a:r>
            <a:r>
              <a:rPr sz="1150">
                <a:solidFill>
                  <a:srgbClr val="4A5568"/>
                </a:solidFill>
                <a:latin typeface="Segoe UI"/>
              </a:rPr>
              <a:t/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150">
                <a:solidFill>
                  <a:srgbClr val="1E6FD9"/>
                </a:solidFill>
                <a:latin typeface="Segoe UI"/>
              </a:rPr>
              <a:t>•  </a:t>
            </a:r>
            <a:r>
              <a:rPr sz="1150">
                <a:solidFill>
                  <a:srgbClr val="4A5568"/>
                </a:solidFill>
                <a:latin typeface="Segoe UI"/>
              </a:rPr>
              <a:t/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150">
                <a:solidFill>
                  <a:srgbClr val="1E6FD9"/>
                </a:solidFill>
                <a:latin typeface="Segoe UI"/>
              </a:rPr>
              <a:t>•  </a:t>
            </a:r>
            <a:r>
              <a:rPr sz="1150">
                <a:solidFill>
                  <a:srgbClr val="4A5568"/>
                </a:solidFill>
                <a:latin typeface="Segoe UI"/>
              </a:rPr>
              <a:t/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5029200"/>
            <a:ext cx="11057839" cy="1207008"/>
          </a:xfrm>
          <a:prstGeom prst="roundRect">
            <a:avLst>
              <a:gd name="adj" fmla="val 5000"/>
            </a:avLst>
          </a:prstGeom>
          <a:solidFill>
            <a:srgbClr val="E7F6EF"/>
          </a:solidFill>
          <a:ln w="12700">
            <a:solidFill>
              <a:srgbClr val="BFE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5175504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E8E5A"/>
                </a:solidFill>
                <a:latin typeface="Segoe UI Semibold"/>
              </a:rPr>
              <a:t>The 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52928" y="5175504"/>
            <a:ext cx="8412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0" i="0">
                <a:solidFill>
                  <a:srgbClr val="0B1F3A"/>
                </a:solidFill>
                <a:latin typeface="Segoe UI"/>
              </a:rPr>
              <a:t>A TLS-encrypted client–server uploader that resumes an interrupted transfer from the last byte the server already holds, verifies every upload with SHA-256, and refuses unsafe requests before writing a byte.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6A8"/>
                </a:solidFill>
                <a:latin typeface="Segoe UI"/>
              </a:rPr>
              <a:t>Secure Resumable File Transfer  ·  v1.0.0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10367" y="6437376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6A8"/>
                </a:solidFill>
                <a:latin typeface="Segoe UI"/>
              </a:rPr>
              <a:t>4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69264"/>
            <a:ext cx="12191695" cy="50292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7160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7EB4F0"/>
                </a:solidFill>
                <a:latin typeface="Segoe UI Semibold"/>
              </a:rPr>
              <a:t>02  ·  REQUIREMENTS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74904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 Semibold"/>
              </a:rPr>
              <a:t>Objectives &amp; Scope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325880"/>
            <a:ext cx="5532120" cy="3246120"/>
          </a:xfrm>
          <a:prstGeom prst="roundRect">
            <a:avLst>
              <a:gd name="adj" fmla="val 4000"/>
            </a:avLst>
          </a:prstGeom>
          <a:solidFill>
            <a:srgbClr val="E7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325880"/>
            <a:ext cx="50292" cy="324612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472184"/>
            <a:ext cx="5166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F3A"/>
                </a:solidFill>
                <a:latin typeface="Segoe UI Semibold"/>
              </a:rPr>
              <a:t>In scope — what the system does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1856232"/>
            <a:ext cx="5148072" cy="2606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150">
                <a:solidFill>
                  <a:srgbClr val="1E6FD9"/>
                </a:solidFill>
                <a:latin typeface="Segoe UI"/>
              </a:rPr>
              <a:t>•  </a:t>
            </a:r>
            <a:r>
              <a:rPr sz="1150">
                <a:solidFill>
                  <a:srgbClr val="4A5568"/>
                </a:solidFill>
                <a:latin typeface="Segoe UI"/>
              </a:rPr>
              <a:t/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150">
                <a:solidFill>
                  <a:srgbClr val="1E6FD9"/>
                </a:solidFill>
                <a:latin typeface="Segoe UI"/>
              </a:rPr>
              <a:t>•  </a:t>
            </a:r>
            <a:r>
              <a:rPr sz="1150">
                <a:solidFill>
                  <a:srgbClr val="4A5568"/>
                </a:solidFill>
                <a:latin typeface="Segoe UI"/>
              </a:rPr>
              <a:t/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150">
                <a:solidFill>
                  <a:srgbClr val="1E6FD9"/>
                </a:solidFill>
                <a:latin typeface="Segoe UI"/>
              </a:rPr>
              <a:t>•  </a:t>
            </a:r>
            <a:r>
              <a:rPr sz="1150">
                <a:solidFill>
                  <a:srgbClr val="4A5568"/>
                </a:solidFill>
                <a:latin typeface="Segoe UI"/>
              </a:rPr>
              <a:t/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150">
                <a:solidFill>
                  <a:srgbClr val="1E6FD9"/>
                </a:solidFill>
                <a:latin typeface="Segoe UI"/>
              </a:rPr>
              <a:t>•  </a:t>
            </a:r>
            <a:r>
              <a:rPr sz="1150">
                <a:solidFill>
                  <a:srgbClr val="4A5568"/>
                </a:solidFill>
                <a:latin typeface="Segoe UI"/>
              </a:rPr>
              <a:t/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150">
                <a:solidFill>
                  <a:srgbClr val="1E6FD9"/>
                </a:solidFill>
                <a:latin typeface="Segoe UI"/>
              </a:rPr>
              <a:t>•  </a:t>
            </a:r>
            <a:r>
              <a:rPr sz="1150">
                <a:solidFill>
                  <a:srgbClr val="4A5568"/>
                </a:solidFill>
                <a:latin typeface="Segoe UI"/>
              </a:rPr>
              <a:t/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150">
                <a:solidFill>
                  <a:srgbClr val="1E6FD9"/>
                </a:solidFill>
                <a:latin typeface="Segoe UI"/>
              </a:rPr>
              <a:t>•  </a:t>
            </a:r>
            <a:r>
              <a:rPr sz="1150">
                <a:solidFill>
                  <a:srgbClr val="4A5568"/>
                </a:solidFill>
                <a:latin typeface="Segoe UI"/>
              </a:rPr>
              <a:t/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150">
                <a:solidFill>
                  <a:srgbClr val="1E6FD9"/>
                </a:solidFill>
                <a:latin typeface="Segoe UI"/>
              </a:rPr>
              <a:t>•  </a:t>
            </a:r>
            <a:r>
              <a:rPr sz="1150">
                <a:solidFill>
                  <a:srgbClr val="4A5568"/>
                </a:solidFill>
                <a:latin typeface="Segoe UI"/>
              </a:rPr>
              <a:t/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56832" y="1325880"/>
            <a:ext cx="4956048" cy="3246120"/>
          </a:xfrm>
          <a:prstGeom prst="roundRect">
            <a:avLst>
              <a:gd name="adj" fmla="val 4000"/>
            </a:avLst>
          </a:prstGeom>
          <a:solidFill>
            <a:srgbClr val="FD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56832" y="1325880"/>
            <a:ext cx="50292" cy="3246120"/>
          </a:xfrm>
          <a:prstGeom prst="rect">
            <a:avLst/>
          </a:prstGeom>
          <a:solidFill>
            <a:srgbClr val="B5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76288" y="1472184"/>
            <a:ext cx="459028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F3A"/>
                </a:solidFill>
                <a:latin typeface="Segoe UI Semibold"/>
              </a:rPr>
              <a:t>Out of scope — deliberately not built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76288" y="1856232"/>
            <a:ext cx="4572000" cy="2606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150">
                <a:solidFill>
                  <a:srgbClr val="1E6FD9"/>
                </a:solidFill>
                <a:latin typeface="Segoe UI"/>
              </a:rPr>
              <a:t>•  </a:t>
            </a:r>
            <a:r>
              <a:rPr sz="1150">
                <a:solidFill>
                  <a:srgbClr val="4A5568"/>
                </a:solidFill>
                <a:latin typeface="Segoe UI"/>
              </a:rPr>
              <a:t/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150">
                <a:solidFill>
                  <a:srgbClr val="1E6FD9"/>
                </a:solidFill>
                <a:latin typeface="Segoe UI"/>
              </a:rPr>
              <a:t>•  </a:t>
            </a:r>
            <a:r>
              <a:rPr sz="1150">
                <a:solidFill>
                  <a:srgbClr val="4A5568"/>
                </a:solidFill>
                <a:latin typeface="Segoe UI"/>
              </a:rPr>
              <a:t/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150">
                <a:solidFill>
                  <a:srgbClr val="1E6FD9"/>
                </a:solidFill>
                <a:latin typeface="Segoe UI"/>
              </a:rPr>
              <a:t>•  </a:t>
            </a:r>
            <a:r>
              <a:rPr sz="1150">
                <a:solidFill>
                  <a:srgbClr val="4A5568"/>
                </a:solidFill>
                <a:latin typeface="Segoe UI"/>
              </a:rPr>
              <a:t/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150">
                <a:solidFill>
                  <a:srgbClr val="1E6FD9"/>
                </a:solidFill>
                <a:latin typeface="Segoe UI"/>
              </a:rPr>
              <a:t>•  </a:t>
            </a:r>
            <a:r>
              <a:rPr sz="1150">
                <a:solidFill>
                  <a:srgbClr val="4A5568"/>
                </a:solidFill>
                <a:latin typeface="Segoe UI"/>
              </a:rPr>
              <a:t/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150">
                <a:solidFill>
                  <a:srgbClr val="1E6FD9"/>
                </a:solidFill>
                <a:latin typeface="Segoe UI"/>
              </a:rPr>
              <a:t>•  </a:t>
            </a:r>
            <a:r>
              <a:rPr sz="1150">
                <a:solidFill>
                  <a:srgbClr val="4A5568"/>
                </a:solidFill>
                <a:latin typeface="Segoe UI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82803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F3A"/>
                </a:solidFill>
                <a:latin typeface="Segoe UI Semibold"/>
              </a:rPr>
              <a:t>Requirement traceability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5175504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 i="0">
                <a:solidFill>
                  <a:srgbClr val="4A5568"/>
                </a:solidFill>
                <a:latin typeface="Segoe UI"/>
              </a:rPr>
              <a:t>All 20 functional and 12 non-functional requirements are listed in docs/PRD.md. Every one is traced to the automated check that covers it in docs/TEST_PLAN.md — there is no requirement without evidence.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6A8"/>
                </a:solidFill>
                <a:latin typeface="Segoe UI"/>
              </a:rPr>
              <a:t>Secure Resumable File Transfer  ·  v1.0.0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10367" y="6437376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6A8"/>
                </a:solidFill>
                <a:latin typeface="Segoe UI"/>
              </a:rPr>
              <a:t>5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69264"/>
            <a:ext cx="12191695" cy="50292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7160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7EB4F0"/>
                </a:solidFill>
                <a:latin typeface="Segoe UI Semibold"/>
              </a:rPr>
              <a:t>03  ·  WHAT IT IS BUILT WITH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74904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 Semibold"/>
              </a:rPr>
              <a:t>Technology Stack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298448"/>
          <a:ext cx="11057837" cy="404164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83154"/>
                <a:gridCol w="2001850"/>
                <a:gridCol w="6672833"/>
              </a:tblGrid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egoe UI Semibold"/>
                        </a:rPr>
                        <a:t>Layer of the stack</a:t>
                      </a:r>
                    </a:p>
                  </a:txBody>
                  <a:tcPr marL="91440" marR="91440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egoe UI Semibold"/>
                        </a:rPr>
                        <a:t>Technology</a:t>
                      </a:r>
                    </a:p>
                  </a:txBody>
                  <a:tcPr marL="91440" marR="91440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egoe UI Semibold"/>
                        </a:rPr>
                        <a:t>Why it was chosen</a:t>
                      </a:r>
                    </a:p>
                  </a:txBody>
                  <a:tcPr marL="91440" marR="91440" anchor="ctr">
                    <a:solidFill>
                      <a:srgbClr val="0B1F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0B1F3A"/>
                          </a:solidFill>
                          <a:latin typeface="Segoe UI Semibold"/>
                        </a:rPr>
                        <a:t>Language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4A5568"/>
                          </a:solidFill>
                          <a:latin typeface="Segoe UI"/>
                        </a:rPr>
                        <a:t>C++20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4A5568"/>
                          </a:solidFill>
                          <a:latin typeface="Segoe UI"/>
                        </a:rPr>
                        <a:t>RAII, move semantics and coroutine-ready async for safe manual memory management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0B1F3A"/>
                          </a:solidFill>
                          <a:latin typeface="Segoe UI Semibold"/>
                        </a:rPr>
                        <a:t>Build system</a:t>
                      </a:r>
                    </a:p>
                  </a:txBody>
                  <a:tcPr marL="91440" marR="91440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4A5568"/>
                          </a:solidFill>
                          <a:latin typeface="Segoe UI"/>
                        </a:rPr>
                        <a:t>CMake 3.15+</a:t>
                      </a:r>
                    </a:p>
                  </a:txBody>
                  <a:tcPr marL="91440" marR="91440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4A5568"/>
                          </a:solidFill>
                          <a:latin typeface="Segoe UI"/>
                        </a:rPr>
                        <a:t>One project file builds MSVC, MinGW and GCC from the same sources</a:t>
                      </a:r>
                    </a:p>
                  </a:txBody>
                  <a:tcPr marL="91440" marR="91440" marT="18288" marB="18288" anchor="ctr"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0B1F3A"/>
                          </a:solidFill>
                          <a:latin typeface="Segoe UI Semibold"/>
                        </a:rPr>
                        <a:t>Networking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4A5568"/>
                          </a:solidFill>
                          <a:latin typeface="Segoe UI"/>
                        </a:rPr>
                        <a:t>Boost.Asio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4A5568"/>
                          </a:solidFill>
                          <a:latin typeface="Segoe UI"/>
                        </a:rPr>
                        <a:t>Header-only, portable over WinSock and BSD sockets, fully async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0B1F3A"/>
                          </a:solidFill>
                          <a:latin typeface="Segoe UI Semibold"/>
                        </a:rPr>
                        <a:t>Security</a:t>
                      </a:r>
                    </a:p>
                  </a:txBody>
                  <a:tcPr marL="91440" marR="91440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4A5568"/>
                          </a:solidFill>
                          <a:latin typeface="Segoe UI"/>
                        </a:rPr>
                        <a:t>OpenSSL 3.x</a:t>
                      </a:r>
                    </a:p>
                  </a:txBody>
                  <a:tcPr marL="91440" marR="91440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4A5568"/>
                          </a:solidFill>
                          <a:latin typeface="Segoe UI"/>
                        </a:rPr>
                        <a:t>Provides both the TLS transport and the EVP SHA-256 digest</a:t>
                      </a:r>
                    </a:p>
                  </a:txBody>
                  <a:tcPr marL="91440" marR="91440" marT="18288" marB="18288" anchor="ctr"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0B1F3A"/>
                          </a:solidFill>
                          <a:latin typeface="Segoe UI Semibold"/>
                        </a:rPr>
                        <a:t>Concurrency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4A5568"/>
                          </a:solidFill>
                          <a:latin typeface="Segoe UI"/>
                        </a:rPr>
                        <a:t>std::thread pool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4A5568"/>
                          </a:solidFill>
                          <a:latin typeface="Segoe UI"/>
                        </a:rPr>
                        <a:t>A shared io_context run on 2–4 worker threads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0B1F3A"/>
                          </a:solidFill>
                          <a:latin typeface="Segoe UI Semibold"/>
                        </a:rPr>
                        <a:t>Testing</a:t>
                      </a:r>
                    </a:p>
                  </a:txBody>
                  <a:tcPr marL="91440" marR="91440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4A5568"/>
                          </a:solidFill>
                          <a:latin typeface="Segoe UI"/>
                        </a:rPr>
                        <a:t>Bash + PowerShell</a:t>
                      </a:r>
                    </a:p>
                  </a:txBody>
                  <a:tcPr marL="91440" marR="91440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4A5568"/>
                          </a:solidFill>
                          <a:latin typeface="Segoe UI"/>
                        </a:rPr>
                        <a:t>End-to-end scripts over real TLS, driven by CTest</a:t>
                      </a:r>
                    </a:p>
                  </a:txBody>
                  <a:tcPr marL="91440" marR="91440" marT="18288" marB="18288" anchor="ctr"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0B1F3A"/>
                          </a:solidFill>
                          <a:latin typeface="Segoe UI Semibold"/>
                        </a:rPr>
                        <a:t>CI/CD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4A5568"/>
                          </a:solidFill>
                          <a:latin typeface="Segoe UI"/>
                        </a:rPr>
                        <a:t>GitHub Actions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4A5568"/>
                          </a:solidFill>
                          <a:latin typeface="Segoe UI"/>
                        </a:rPr>
                        <a:t>Builds and tests both platforms on every push and pull request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0B1F3A"/>
                          </a:solidFill>
                          <a:latin typeface="Segoe UI Semibold"/>
                        </a:rPr>
                        <a:t>Documentation</a:t>
                      </a:r>
                    </a:p>
                  </a:txBody>
                  <a:tcPr marL="91440" marR="91440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4A5568"/>
                          </a:solidFill>
                          <a:latin typeface="Segoe UI"/>
                        </a:rPr>
                        <a:t>Markdown + Mermaid</a:t>
                      </a:r>
                    </a:p>
                  </a:txBody>
                  <a:tcPr marL="91440" marR="91440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4A5568"/>
                          </a:solidFill>
                          <a:latin typeface="Segoe UI"/>
                        </a:rPr>
                        <a:t>PRD, architecture, UML, development plan and test plan in-repo</a:t>
                      </a:r>
                    </a:p>
                  </a:txBody>
                  <a:tcPr marL="91440" marR="91440" marT="18288" marB="18288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557784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8A96A8"/>
                </a:solidFill>
                <a:latin typeface="Segoe UI"/>
              </a:rPr>
              <a:t>Note: Boost is headers only, so nothing Boost is linked. OpenSSL is linked, so both its headers and its libraries are required at build time.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6A8"/>
                </a:solidFill>
                <a:latin typeface="Segoe UI"/>
              </a:rPr>
              <a:t>Secure Resumable File Transfer  ·  v1.0.0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10367" y="6437376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6A8"/>
                </a:solidFill>
                <a:latin typeface="Segoe UI"/>
              </a:rPr>
              <a:t>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69264"/>
            <a:ext cx="12191695" cy="50292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7160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7EB4F0"/>
                </a:solidFill>
                <a:latin typeface="Segoe UI Semibold"/>
              </a:rPr>
              <a:t>04  ·  SIX LAYERS, ONE-DIRECTIONAL DEPENDENCIES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74904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 Semibold"/>
              </a:rPr>
              <a:t>System 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280160"/>
            <a:ext cx="7589520" cy="676656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280160"/>
            <a:ext cx="45720" cy="676656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371600"/>
            <a:ext cx="1371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6FD9"/>
                </a:solidFill>
                <a:latin typeface="Segoe UI Semibold"/>
              </a:rPr>
              <a:t>Entry 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67128" y="1371600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B1F3A"/>
                </a:solidFill>
                <a:latin typeface="Consolas"/>
              </a:rPr>
              <a:t>main.cpp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1627632"/>
            <a:ext cx="7223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A5568"/>
                </a:solidFill>
                <a:latin typeface="Segoe UI"/>
              </a:rPr>
              <a:t>Command line parsing, certificate discovery, event loop, exit codes. No protocol logic.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1938528"/>
            <a:ext cx="27432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8A96A8"/>
                </a:solidFill>
                <a:latin typeface="Segoe UI"/>
              </a:rPr>
              <a:t>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048256"/>
            <a:ext cx="7589520" cy="676656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2048256"/>
            <a:ext cx="45720" cy="676656"/>
          </a:xfrm>
          <a:prstGeom prst="rect">
            <a:avLst/>
          </a:prstGeom>
          <a:solidFill>
            <a:srgbClr val="118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139696"/>
            <a:ext cx="1371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8AA0"/>
                </a:solidFill>
                <a:latin typeface="Segoe UI Semibold"/>
              </a:rPr>
              <a:t>Transport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67128" y="2139696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B1F3A"/>
                </a:solidFill>
                <a:latin typeface="Consolas"/>
              </a:rPr>
              <a:t>server.cpp  ·  client.cpp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2395728"/>
            <a:ext cx="7223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A5568"/>
                </a:solidFill>
                <a:latin typeface="Segoe UI"/>
              </a:rPr>
              <a:t>Accept and connect, own the TLS stream, drive the transfer.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2706624"/>
            <a:ext cx="27432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8A96A8"/>
                </a:solidFill>
                <a:latin typeface="Segoe UI"/>
              </a:rPr>
              <a:t>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2816352"/>
            <a:ext cx="7589520" cy="676656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2816352"/>
            <a:ext cx="45720" cy="676656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2907792"/>
            <a:ext cx="1371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8E5A"/>
                </a:solidFill>
                <a:latin typeface="Segoe UI Semibold"/>
              </a:rPr>
              <a:t>Session logic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67128" y="2907792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B1F3A"/>
                </a:solidFill>
                <a:latin typeface="Consolas"/>
              </a:rPr>
              <a:t>serverSession.cpp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" y="3163824"/>
            <a:ext cx="7223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A5568"/>
                </a:solidFill>
                <a:latin typeface="Segoe UI"/>
              </a:rPr>
              <a:t>The protocol state machine: validation, chunk loop, integrity verdict, filename policy.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3474720"/>
            <a:ext cx="27432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8A96A8"/>
                </a:solidFill>
                <a:latin typeface="Segoe UI"/>
              </a:rPr>
              <a:t>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3584448"/>
            <a:ext cx="7589520" cy="676656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3584448"/>
            <a:ext cx="45720" cy="676656"/>
          </a:xfrm>
          <a:prstGeom prst="rect">
            <a:avLst/>
          </a:prstGeom>
          <a:solidFill>
            <a:srgbClr val="B5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3675888"/>
            <a:ext cx="1371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B56E00"/>
                </a:solidFill>
                <a:latin typeface="Segoe UI Semibold"/>
              </a:rPr>
              <a:t>Support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67128" y="3675888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B1F3A"/>
                </a:solidFill>
                <a:latin typeface="Consolas"/>
              </a:rPr>
              <a:t>checksum.cpp  ·  logging.hpp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" y="3931920"/>
            <a:ext cx="7223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A5568"/>
                </a:solidFill>
                <a:latin typeface="Segoe UI"/>
              </a:rPr>
              <a:t>Incremental SHA-256; thread-safe logging with a terminal-aware progress bar.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" y="4242816"/>
            <a:ext cx="27432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8A96A8"/>
                </a:solidFill>
                <a:latin typeface="Segoe UI"/>
              </a:rPr>
              <a:t>▼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4352544"/>
            <a:ext cx="7589520" cy="676656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6928" y="4352544"/>
            <a:ext cx="45720" cy="676656"/>
          </a:xfrm>
          <a:prstGeom prst="rect">
            <a:avLst/>
          </a:prstGeom>
          <a:solidFill>
            <a:srgbClr val="163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8096" y="4443984"/>
            <a:ext cx="1371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63357"/>
                </a:solidFill>
                <a:latin typeface="Segoe UI Semibold"/>
              </a:rPr>
              <a:t>Contract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67128" y="4443984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B1F3A"/>
                </a:solidFill>
                <a:latin typeface="Consolas"/>
              </a:rPr>
              <a:t>protocol.hpp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8096" y="4700016"/>
            <a:ext cx="7223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A5568"/>
                </a:solidFill>
                <a:latin typeface="Segoe UI"/>
              </a:rPr>
              <a:t>Wire constants and status codes — the only vocabulary the two sides share. No logic, so they cannot disagree.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" y="5010912"/>
            <a:ext cx="27432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8A96A8"/>
                </a:solidFill>
                <a:latin typeface="Segoe UI"/>
              </a:rPr>
              <a:t>▼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5120640"/>
            <a:ext cx="7589520" cy="676656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66928" y="5120640"/>
            <a:ext cx="45720" cy="676656"/>
          </a:xfrm>
          <a:prstGeom prst="rect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8096" y="5212080"/>
            <a:ext cx="1371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A5568"/>
                </a:solidFill>
                <a:latin typeface="Segoe UI Semibold"/>
              </a:rPr>
              <a:t>Build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67128" y="5212080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B1F3A"/>
                </a:solidFill>
                <a:latin typeface="Consolas"/>
              </a:rPr>
              <a:t>CMakeLists.txt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" y="5468112"/>
            <a:ext cx="7223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A5568"/>
                </a:solidFill>
                <a:latin typeface="Segoe UI"/>
              </a:rPr>
              <a:t>Dependency discovery, TLS asset staging, MinGW runtime staging, CTest registration.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375904" y="1280160"/>
            <a:ext cx="3236976" cy="1874519"/>
          </a:xfrm>
          <a:prstGeom prst="roundRect">
            <a:avLst>
              <a:gd name="adj" fmla="val 4000"/>
            </a:avLst>
          </a:prstGeom>
          <a:solidFill>
            <a:srgbClr val="E8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375904" y="1280160"/>
            <a:ext cx="50292" cy="1874519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95360" y="1426464"/>
            <a:ext cx="287121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F3A"/>
                </a:solidFill>
                <a:latin typeface="Segoe UI Semibold"/>
              </a:rPr>
              <a:t>Codebase size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95360" y="1810512"/>
            <a:ext cx="2852928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150">
                <a:solidFill>
                  <a:srgbClr val="1E6FD9"/>
                </a:solidFill>
                <a:latin typeface="Segoe UI"/>
              </a:rPr>
              <a:t>•  </a:t>
            </a:r>
            <a:r>
              <a:rPr sz="1150">
                <a:solidFill>
                  <a:srgbClr val="4A5568"/>
                </a:solidFill>
                <a:latin typeface="Segoe UI"/>
              </a:rPr>
              <a:t/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150">
                <a:solidFill>
                  <a:srgbClr val="1E6FD9"/>
                </a:solidFill>
                <a:latin typeface="Segoe UI"/>
              </a:rPr>
              <a:t>•  </a:t>
            </a:r>
            <a:r>
              <a:rPr sz="1150">
                <a:solidFill>
                  <a:srgbClr val="4A5568"/>
                </a:solidFill>
                <a:latin typeface="Segoe UI"/>
              </a:rPr>
              <a:t/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150">
                <a:solidFill>
                  <a:srgbClr val="1E6FD9"/>
                </a:solidFill>
                <a:latin typeface="Segoe UI"/>
              </a:rPr>
              <a:t>•  </a:t>
            </a:r>
            <a:r>
              <a:rPr sz="1150">
                <a:solidFill>
                  <a:srgbClr val="4A5568"/>
                </a:solidFill>
                <a:latin typeface="Segoe UI"/>
              </a:rPr>
              <a:t/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375904" y="3291840"/>
            <a:ext cx="3236976" cy="2084831"/>
          </a:xfrm>
          <a:prstGeom prst="roundRect">
            <a:avLst>
              <a:gd name="adj" fmla="val 4000"/>
            </a:avLst>
          </a:prstGeom>
          <a:solidFill>
            <a:srgbClr val="EC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375904" y="3291840"/>
            <a:ext cx="50292" cy="2084831"/>
          </a:xfrm>
          <a:prstGeom prst="rect">
            <a:avLst/>
          </a:prstGeom>
          <a:solidFill>
            <a:srgbClr val="118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95360" y="3438144"/>
            <a:ext cx="287121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F3A"/>
                </a:solidFill>
                <a:latin typeface="Segoe UI Semibold"/>
              </a:rPr>
              <a:t>Design rules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95360" y="3822192"/>
            <a:ext cx="2852928" cy="14447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150">
                <a:solidFill>
                  <a:srgbClr val="1E6FD9"/>
                </a:solidFill>
                <a:latin typeface="Segoe UI"/>
              </a:rPr>
              <a:t>•  </a:t>
            </a:r>
            <a:r>
              <a:rPr sz="1150">
                <a:solidFill>
                  <a:srgbClr val="4A5568"/>
                </a:solidFill>
                <a:latin typeface="Segoe UI"/>
              </a:rPr>
              <a:t/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150">
                <a:solidFill>
                  <a:srgbClr val="1E6FD9"/>
                </a:solidFill>
                <a:latin typeface="Segoe UI"/>
              </a:rPr>
              <a:t>•  </a:t>
            </a:r>
            <a:r>
              <a:rPr sz="1150">
                <a:solidFill>
                  <a:srgbClr val="4A5568"/>
                </a:solidFill>
                <a:latin typeface="Segoe UI"/>
              </a:rPr>
              <a:t/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150">
                <a:solidFill>
                  <a:srgbClr val="1E6FD9"/>
                </a:solidFill>
                <a:latin typeface="Segoe UI"/>
              </a:rPr>
              <a:t>•  </a:t>
            </a:r>
            <a:r>
              <a:rPr sz="1150">
                <a:solidFill>
                  <a:srgbClr val="4A5568"/>
                </a:solidFill>
                <a:latin typeface="Segoe UI"/>
              </a:rPr>
              <a:t/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150">
                <a:solidFill>
                  <a:srgbClr val="1E6FD9"/>
                </a:solidFill>
                <a:latin typeface="Segoe UI"/>
              </a:rPr>
              <a:t>•  </a:t>
            </a:r>
            <a:r>
              <a:rPr sz="1150">
                <a:solidFill>
                  <a:srgbClr val="4A5568"/>
                </a:solidFill>
                <a:latin typeface="Segoe UI"/>
              </a:rP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6A8"/>
                </a:solidFill>
                <a:latin typeface="Segoe UI"/>
              </a:rPr>
              <a:t>Secure Resumable File Transfer  ·  v1.0.0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10367" y="6437376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6A8"/>
                </a:solidFill>
                <a:latin typeface="Segoe UI"/>
              </a:rPr>
              <a:t>7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69264"/>
            <a:ext cx="12191695" cy="50292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7160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7EB4F0"/>
                </a:solidFill>
                <a:latin typeface="Segoe UI Semibold"/>
              </a:rPr>
              <a:t>05  ·  THE CONTRACT BETWEEN CLIENT AND SERVER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74904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 Semibold"/>
              </a:rPr>
              <a:t>Wire Protocol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280160"/>
            <a:ext cx="6858000" cy="3310128"/>
          </a:xfrm>
          <a:prstGeom prst="roundRect">
            <a:avLst>
              <a:gd name="adj" fmla="val 3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01168" rIns="201168" tIns="91440" bIns="91440"/>
          <a:lstStyle/>
          <a:p>
            <a:pPr algn="ctr">
              <a:lnSpc>
                <a:spcPct val="124000"/>
              </a:lnSpc>
            </a:pPr>
            <a:r>
              <a:rPr sz="1200">
                <a:solidFill>
                  <a:srgbClr val="D8E6F5"/>
                </a:solidFill>
                <a:latin typeface="Consolas"/>
              </a:rPr>
              <a:t>client                                  server</a:t>
            </a:r>
          </a:p>
          <a:p>
            <a:pPr>
              <a:lnSpc>
                <a:spcPct val="124000"/>
              </a:lnSpc>
            </a:pPr>
            <a:r>
              <a:rPr sz="1200">
                <a:solidFill>
                  <a:srgbClr val="D8E6F5"/>
                </a:solidFill>
                <a:latin typeface="Consolas"/>
              </a:rPr>
              <a:t>  |---- uint32  name_len ---------------------&gt;|</a:t>
            </a:r>
          </a:p>
          <a:p>
            <a:pPr>
              <a:lnSpc>
                <a:spcPct val="124000"/>
              </a:lnSpc>
            </a:pPr>
            <a:r>
              <a:rPr sz="1200">
                <a:solidFill>
                  <a:srgbClr val="D8E6F5"/>
                </a:solidFill>
                <a:latin typeface="Consolas"/>
              </a:rPr>
              <a:t>  |---- name_len bytes  filename --------------&gt;|</a:t>
            </a:r>
          </a:p>
          <a:p>
            <a:pPr>
              <a:lnSpc>
                <a:spcPct val="124000"/>
              </a:lnSpc>
            </a:pPr>
            <a:r>
              <a:rPr sz="1200">
                <a:solidFill>
                  <a:srgbClr val="D8E6F5"/>
                </a:solidFill>
                <a:latin typeface="Consolas"/>
              </a:rPr>
              <a:t>  |---- 64 bytes  hex SHA-256 -----------------&gt;|</a:t>
            </a:r>
          </a:p>
          <a:p>
            <a:pPr>
              <a:lnSpc>
                <a:spcPct val="124000"/>
              </a:lnSpc>
            </a:pPr>
            <a:r>
              <a:rPr sz="1200">
                <a:solidFill>
                  <a:srgbClr val="D8E6F5"/>
                </a:solidFill>
                <a:latin typeface="Consolas"/>
              </a:rPr>
              <a:t>  |---- uint64  file_size ---------------------&gt;|</a:t>
            </a:r>
          </a:p>
          <a:p>
            <a:pPr>
              <a:lnSpc>
                <a:spcPct val="124000"/>
              </a:lnSpc>
            </a:pPr>
            <a:r>
              <a:rPr sz="1200">
                <a:solidFill>
                  <a:srgbClr val="D8E6F5"/>
                </a:solidFill>
                <a:latin typeface="Consolas"/>
              </a:rPr>
              <a:t>  |                                           |  the whole request is</a:t>
            </a:r>
          </a:p>
          <a:p>
            <a:pPr>
              <a:lnSpc>
                <a:spcPct val="124000"/>
              </a:lnSpc>
            </a:pPr>
            <a:r>
              <a:rPr sz="1200">
                <a:solidFill>
                  <a:srgbClr val="D8E6F5"/>
                </a:solidFill>
                <a:latin typeface="Consolas"/>
              </a:rPr>
              <a:t>  |                                           |  validated BEFORE anything</a:t>
            </a:r>
          </a:p>
          <a:p>
            <a:pPr>
              <a:lnSpc>
                <a:spcPct val="124000"/>
              </a:lnSpc>
            </a:pPr>
            <a:r>
              <a:rPr sz="1200">
                <a:solidFill>
                  <a:srgbClr val="D8E6F5"/>
                </a:solidFill>
                <a:latin typeface="Consolas"/>
              </a:rPr>
              <a:t>  |                                           |  is stored</a:t>
            </a:r>
          </a:p>
          <a:p>
            <a:pPr>
              <a:lnSpc>
                <a:spcPct val="124000"/>
              </a:lnSpc>
            </a:pPr>
            <a:r>
              <a:rPr sz="1200">
                <a:solidFill>
                  <a:srgbClr val="D8E6F5"/>
                </a:solidFill>
                <a:latin typeface="Consolas"/>
              </a:rPr>
              <a:t>  |&lt;--- 1 byte  status (proceed / refused) ----|</a:t>
            </a:r>
          </a:p>
          <a:p>
            <a:pPr>
              <a:lnSpc>
                <a:spcPct val="124000"/>
              </a:lnSpc>
            </a:pPr>
            <a:r>
              <a:rPr sz="1200">
                <a:solidFill>
                  <a:srgbClr val="D8E6F5"/>
                </a:solidFill>
                <a:latin typeface="Consolas"/>
              </a:rPr>
              <a:t>  |&lt;--- uint64  resume_offset -----------------|  only when proceeding</a:t>
            </a:r>
          </a:p>
          <a:p>
            <a:pPr>
              <a:lnSpc>
                <a:spcPct val="124000"/>
              </a:lnSpc>
            </a:pPr>
            <a:r>
              <a:rPr sz="1200">
                <a:solidFill>
                  <a:srgbClr val="D8E6F5"/>
                </a:solidFill>
                <a:latin typeface="Consolas"/>
              </a:rPr>
              <a:t>  |---- payload, 64 KB chunks ----------------&gt;|</a:t>
            </a:r>
          </a:p>
          <a:p>
            <a:pPr>
              <a:lnSpc>
                <a:spcPct val="124000"/>
              </a:lnSpc>
            </a:pPr>
            <a:r>
              <a:rPr sz="1200">
                <a:solidFill>
                  <a:srgbClr val="D8E6F5"/>
                </a:solidFill>
                <a:latin typeface="Consolas"/>
              </a:rPr>
              <a:t>  |&lt;--- 1 byte  status (verified / failed) ----|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1325880"/>
            <a:ext cx="402336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200">
                <a:solidFill>
                  <a:srgbClr val="1E6FD9"/>
                </a:solidFill>
                <a:latin typeface="Segoe UI"/>
              </a:rPr>
              <a:t>•  </a:t>
            </a:r>
            <a:r>
              <a:rPr sz="1200" b="1">
                <a:solidFill>
                  <a:srgbClr val="0B1F3A"/>
                </a:solidFill>
                <a:latin typeface="Segoe UI Semibold"/>
              </a:rPr>
              <a:t>Validate, then refuse.</a:t>
            </a:r>
            <a:r>
              <a:rPr sz="1200">
                <a:solidFill>
                  <a:srgbClr val="4A5568"/>
                </a:solidFill>
                <a:latin typeface="Segoe UI"/>
              </a:rPr>
              <a:t>  A rejection is reported as a status byte, never as a misleading resume offset — otherwise a refused client would read the offset as truth and corrupt its file.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200">
                <a:solidFill>
                  <a:srgbClr val="1E6FD9"/>
                </a:solidFill>
                <a:latin typeface="Segoe UI"/>
              </a:rPr>
              <a:t>•  </a:t>
            </a:r>
            <a:r>
              <a:rPr sz="1200" b="1">
                <a:solidFill>
                  <a:srgbClr val="0B1F3A"/>
                </a:solidFill>
                <a:latin typeface="Segoe UI Semibold"/>
              </a:rPr>
              <a:t>Host byte order, one write per scalar.</a:t>
            </a:r>
            <a:r>
              <a:rPr sz="1200">
                <a:solidFill>
                  <a:srgbClr val="4A5568"/>
                </a:solidFill>
                <a:latin typeface="Segoe UI"/>
              </a:rPr>
              <a:t>  Removes struct padding as a source of corruption.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200">
                <a:solidFill>
                  <a:srgbClr val="1E6FD9"/>
                </a:solidFill>
                <a:latin typeface="Segoe UI"/>
              </a:rPr>
              <a:t>•  </a:t>
            </a:r>
            <a:r>
              <a:rPr sz="1200" b="1">
                <a:solidFill>
                  <a:srgbClr val="0B1F3A"/>
                </a:solidFill>
                <a:latin typeface="Segoe UI Semibold"/>
              </a:rPr>
              <a:t>The stored file length IS the resume offset.</a:t>
            </a:r>
            <a:r>
              <a:rPr sz="1200">
                <a:solidFill>
                  <a:srgbClr val="4A5568"/>
                </a:solidFill>
                <a:latin typeface="Segoe UI"/>
              </a:rPr>
              <a:t>  Uploads are saved as received_&lt;name&gt;, so there is no separate checkpoint to keep consistent.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200">
                <a:solidFill>
                  <a:srgbClr val="1E6FD9"/>
                </a:solidFill>
                <a:latin typeface="Segoe UI"/>
              </a:rPr>
              <a:t>•  </a:t>
            </a:r>
            <a:r>
              <a:rPr sz="1200" b="1">
                <a:solidFill>
                  <a:srgbClr val="0B1F3A"/>
                </a:solidFill>
                <a:latin typeface="Segoe UI Semibold"/>
              </a:rPr>
              <a:t>Five status codes.</a:t>
            </a:r>
            <a:r>
              <a:rPr sz="1200">
                <a:solidFill>
                  <a:srgbClr val="4A5568"/>
                </a:solidFill>
                <a:latin typeface="Segoe UI"/>
              </a:rPr>
              <a:t>  proceed / ok, checksum mismatch, rejected, busy, error.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828032"/>
            <a:ext cx="11057839" cy="658368"/>
          </a:xfrm>
          <a:prstGeom prst="roundRect">
            <a:avLst>
              <a:gd name="adj" fmla="val 5000"/>
            </a:avLst>
          </a:prstGeom>
          <a:solidFill>
            <a:srgbClr val="FDF3E0"/>
          </a:solidFill>
          <a:ln w="12700">
            <a:solidFill>
              <a:srgbClr val="E8D4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029200"/>
            <a:ext cx="106006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B56E00"/>
                </a:solidFill>
                <a:latin typeface="Segoe UI"/>
              </a:rPr>
              <a:t>Known limitation:  the protocol is not versioned, so a client and a server must be the same build. A version byte in the header is the first thing to add.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6A8"/>
                </a:solidFill>
                <a:latin typeface="Segoe UI"/>
              </a:rPr>
              <a:t>Secure Resumable File Transfer  ·  v1.0.0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10367" y="6437376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6A8"/>
                </a:solidFill>
                <a:latin typeface="Segoe UI"/>
              </a:rPr>
              <a:t>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69264"/>
            <a:ext cx="12191695" cy="50292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7160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7EB4F0"/>
                </a:solidFill>
                <a:latin typeface="Segoe UI Semibold"/>
              </a:rPr>
              <a:t>06  ·  SECURITY ON THE WIRE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74904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 Semibold"/>
              </a:rPr>
              <a:t>Feature 1 — Encrypted and Verified TLS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25880"/>
            <a:ext cx="694944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00">
                <a:solidFill>
                  <a:srgbClr val="1E6FD9"/>
                </a:solidFill>
                <a:latin typeface="Segoe UI"/>
              </a:rPr>
              <a:t>•  </a:t>
            </a:r>
            <a:r>
              <a:rPr sz="1300" b="1">
                <a:solidFill>
                  <a:srgbClr val="0B1F3A"/>
                </a:solidFill>
                <a:latin typeface="Segoe UI Semibold"/>
              </a:rPr>
              <a:t>TLS 1.2 or newer</a:t>
            </a:r>
            <a:r>
              <a:rPr sz="1300">
                <a:solidFill>
                  <a:srgbClr val="4A5568"/>
                </a:solidFill>
                <a:latin typeface="Segoe UI"/>
              </a:rPr>
              <a:t>  via OpenSSL, with SNI so the server is addressed by name. SSLv2 and SSLv3 are explicitly disabled and single-DH-use is set.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00">
                <a:solidFill>
                  <a:srgbClr val="1E6FD9"/>
                </a:solidFill>
                <a:latin typeface="Segoe UI"/>
              </a:rPr>
              <a:t>•  </a:t>
            </a:r>
            <a:r>
              <a:rPr sz="1300" b="1">
                <a:solidFill>
                  <a:srgbClr val="0B1F3A"/>
                </a:solidFill>
                <a:latin typeface="Segoe UI Semibold"/>
              </a:rPr>
              <a:t>Chain AND host name verified by default.</a:t>
            </a:r>
            <a:r>
              <a:rPr sz="1300">
                <a:solidFill>
                  <a:srgbClr val="4A5568"/>
                </a:solidFill>
                <a:latin typeface="Segoe UI"/>
              </a:rPr>
              <a:t>  A custom host-verify callback checks the name against the certificate, including IP literals such as 127.0.0.1.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00">
                <a:solidFill>
                  <a:srgbClr val="1E6FD9"/>
                </a:solidFill>
                <a:latin typeface="Segoe UI"/>
              </a:rPr>
              <a:t>•  </a:t>
            </a:r>
            <a:r>
              <a:rPr sz="1300" b="1">
                <a:solidFill>
                  <a:srgbClr val="0B1F3A"/>
                </a:solidFill>
                <a:latin typeface="Segoe UI Semibold"/>
              </a:rPr>
              <a:t>Fail closed.</a:t>
            </a:r>
            <a:r>
              <a:rPr sz="1300">
                <a:solidFill>
                  <a:srgbClr val="4A5568"/>
                </a:solidFill>
                <a:latin typeface="Segoe UI"/>
              </a:rPr>
              <a:t>  If the client has no CA to verify against, it refuses to start rather than connecting without checking anything.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00">
                <a:solidFill>
                  <a:srgbClr val="1E6FD9"/>
                </a:solidFill>
                <a:latin typeface="Segoe UI"/>
              </a:rPr>
              <a:t>•  </a:t>
            </a:r>
            <a:r>
              <a:rPr sz="1300" b="1">
                <a:solidFill>
                  <a:srgbClr val="0B1F3A"/>
                </a:solidFill>
                <a:latin typeface="Segoe UI Semibold"/>
              </a:rPr>
              <a:t>No silent downgrade.</a:t>
            </a:r>
            <a:r>
              <a:rPr sz="1300">
                <a:solidFill>
                  <a:srgbClr val="4A5568"/>
                </a:solidFill>
                <a:latin typeface="Segoe UI"/>
              </a:rPr>
              <a:t>  --insecure exists only for troubleshooting, and it prints a warning when it is used.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00">
                <a:solidFill>
                  <a:srgbClr val="1E6FD9"/>
                </a:solidFill>
                <a:latin typeface="Segoe UI"/>
              </a:rPr>
              <a:t>•  </a:t>
            </a:r>
            <a:r>
              <a:rPr sz="1300" b="1">
                <a:solidFill>
                  <a:srgbClr val="0B1F3A"/>
                </a:solidFill>
                <a:latin typeface="Segoe UI Semibold"/>
              </a:rPr>
              <a:t>Certificate discovery that actually works.</a:t>
            </a:r>
            <a:r>
              <a:rPr sz="1300">
                <a:solidFill>
                  <a:srgbClr val="4A5568"/>
                </a:solidFill>
                <a:latin typeface="Segoe UI"/>
              </a:rPr>
              <a:t>  The client looks for server.crt next to the executable, then in ./tls_key where the build copies it, and prints the resolved path before connecting.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00">
                <a:solidFill>
                  <a:srgbClr val="1E6FD9"/>
                </a:solidFill>
                <a:latin typeface="Segoe UI"/>
              </a:rPr>
              <a:t>•  </a:t>
            </a:r>
            <a:r>
              <a:rPr sz="1300" b="1">
                <a:solidFill>
                  <a:srgbClr val="0B1F3A"/>
                </a:solidFill>
                <a:latin typeface="Segoe UI Semibold"/>
              </a:rPr>
              <a:t>The server refuses to start without a certificate</a:t>
            </a:r>
            <a:r>
              <a:rPr sz="1300">
                <a:solidFill>
                  <a:srgbClr val="4A5568"/>
                </a:solidFill>
                <a:latin typeface="Segoe UI"/>
              </a:rPr>
              <a:t>  and without a key.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1325880"/>
            <a:ext cx="3886200" cy="2377440"/>
          </a:xfrm>
          <a:prstGeom prst="roundRect">
            <a:avLst>
              <a:gd name="adj" fmla="val 3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01168" rIns="201168" tIns="91440" bIns="91440"/>
          <a:lstStyle/>
          <a:p>
            <a:pPr algn="ctr">
              <a:lnSpc>
                <a:spcPct val="124000"/>
              </a:lnSpc>
            </a:pPr>
            <a:r>
              <a:rPr sz="950">
                <a:solidFill>
                  <a:srgbClr val="D8E6F5"/>
                </a:solidFill>
                <a:latin typeface="Consolas"/>
              </a:rPr>
              <a:t>$ ./FTP server 9000</a:t>
            </a:r>
          </a:p>
          <a:p>
            <a:pPr>
              <a:lnSpc>
                <a:spcPct val="124000"/>
              </a:lnSpc>
            </a:pPr>
            <a:r>
              <a:rPr sz="950">
                <a:solidFill>
                  <a:srgbClr val="D8E6F5"/>
                </a:solidFill>
                <a:latin typeface="Consolas"/>
              </a:rPr>
              <a:t># [SERVER] Certificate loaded:</a:t>
            </a:r>
          </a:p>
          <a:p>
            <a:pPr>
              <a:lnSpc>
                <a:spcPct val="124000"/>
              </a:lnSpc>
            </a:pPr>
            <a:r>
              <a:rPr sz="950">
                <a:solidFill>
                  <a:srgbClr val="D8E6F5"/>
                </a:solidFill>
                <a:latin typeface="Consolas"/>
              </a:rPr>
              <a:t>#          tls_key/server.crt</a:t>
            </a:r>
          </a:p>
          <a:p>
            <a:pPr>
              <a:lnSpc>
                <a:spcPct val="124000"/>
              </a:lnSpc>
            </a:pPr>
            <a:r>
              <a:rPr sz="950">
                <a:solidFill>
                  <a:srgbClr val="D8E6F5"/>
                </a:solidFill>
                <a:latin typeface="Consolas"/>
              </a:rPr>
              <a:t># [SERVER] Listening on port 9000 (TLS enabled)</a:t>
            </a:r>
          </a:p>
          <a:p>
            <a:pPr>
              <a:lnSpc>
                <a:spcPct val="124000"/>
              </a:lnSpc>
            </a:pPr>
            <a:r>
              <a:rPr sz="950">
                <a:solidFill>
                  <a:srgbClr val="D8E6F5"/>
                </a:solidFill>
                <a:latin typeface="Consolas"/>
              </a:rPr>
              <a:t/>
            </a:r>
          </a:p>
          <a:p>
            <a:pPr>
              <a:lnSpc>
                <a:spcPct val="124000"/>
              </a:lnSpc>
            </a:pPr>
            <a:r>
              <a:rPr sz="950">
                <a:solidFill>
                  <a:srgbClr val="D8E6F5"/>
                </a:solidFill>
                <a:latin typeface="Consolas"/>
              </a:rPr>
              <a:t>$ ./FTP client ../note.txt 127.0.0.1 9000</a:t>
            </a:r>
          </a:p>
          <a:p>
            <a:pPr>
              <a:lnSpc>
                <a:spcPct val="124000"/>
              </a:lnSpc>
            </a:pPr>
            <a:r>
              <a:rPr sz="950">
                <a:solidFill>
                  <a:srgbClr val="D8E6F5"/>
                </a:solidFill>
                <a:latin typeface="Consolas"/>
              </a:rPr>
              <a:t># [CLIENT] Verifying against:</a:t>
            </a:r>
          </a:p>
          <a:p>
            <a:pPr>
              <a:lnSpc>
                <a:spcPct val="124000"/>
              </a:lnSpc>
            </a:pPr>
            <a:r>
              <a:rPr sz="950">
                <a:solidFill>
                  <a:srgbClr val="D8E6F5"/>
                </a:solidFill>
                <a:latin typeface="Consolas"/>
              </a:rPr>
              <a:t>#          tls_key/server.crt</a:t>
            </a:r>
          </a:p>
          <a:p>
            <a:pPr>
              <a:lnSpc>
                <a:spcPct val="124000"/>
              </a:lnSpc>
            </a:pPr>
            <a:r>
              <a:rPr sz="950">
                <a:solidFill>
                  <a:srgbClr val="D8E6F5"/>
                </a:solidFill>
                <a:latin typeface="Consolas"/>
              </a:rPr>
              <a:t># [CLIENT] TLS handshake OK (TLSv1.3)</a:t>
            </a:r>
          </a:p>
          <a:p>
            <a:pPr>
              <a:lnSpc>
                <a:spcPct val="124000"/>
              </a:lnSpc>
            </a:pPr>
            <a:r>
              <a:rPr sz="950">
                <a:solidFill>
                  <a:srgbClr val="D8E6F5"/>
                </a:solidFill>
                <a:latin typeface="Consolas"/>
              </a:rPr>
              <a:t># [SUCCESS] Server verified the file (hash matches)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3840480"/>
            <a:ext cx="3886200" cy="1691640"/>
          </a:xfrm>
          <a:prstGeom prst="roundRect">
            <a:avLst>
              <a:gd name="adj" fmla="val 4000"/>
            </a:avLst>
          </a:prstGeom>
          <a:solidFill>
            <a:srgbClr val="E7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26679" y="3840480"/>
            <a:ext cx="50292" cy="169164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46135" y="3986784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F3A"/>
                </a:solidFill>
                <a:latin typeface="Segoe UI Semibold"/>
              </a:rPr>
              <a:t>Why it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46135" y="4370832"/>
            <a:ext cx="3502152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100">
                <a:solidFill>
                  <a:srgbClr val="1E6FD9"/>
                </a:solidFill>
                <a:latin typeface="Segoe UI"/>
              </a:rPr>
              <a:t>•  </a:t>
            </a:r>
            <a:r>
              <a:rPr sz="1100">
                <a:solidFill>
                  <a:srgbClr val="4A5568"/>
                </a:solidFill>
                <a:latin typeface="Segoe UI"/>
              </a:rPr>
              <a:t/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100">
                <a:solidFill>
                  <a:srgbClr val="1E6FD9"/>
                </a:solidFill>
                <a:latin typeface="Segoe UI"/>
              </a:rPr>
              <a:t>•  </a:t>
            </a:r>
            <a:r>
              <a:rPr sz="1100">
                <a:solidFill>
                  <a:srgbClr val="4A5568"/>
                </a:solidFill>
                <a:latin typeface="Segoe UI"/>
              </a:rP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6A8"/>
                </a:solidFill>
                <a:latin typeface="Segoe UI"/>
              </a:rPr>
              <a:t>Secure Resumable File Transfer  ·  v1.0.0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10367" y="6437376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6A8"/>
                </a:solidFill>
                <a:latin typeface="Segoe UI"/>
              </a:rPr>
              <a:t>9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69264"/>
            <a:ext cx="12191695" cy="50292"/>
          </a:xfrm>
          <a:prstGeom prst="rect">
            <a:avLst/>
          </a:prstGeom>
          <a:solidFill>
            <a:srgbClr val="118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7160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7EB4F0"/>
                </a:solidFill>
                <a:latin typeface="Segoe UI Semibold"/>
              </a:rPr>
              <a:t>06  ·  SURVIVING A DROPPED CONNECTION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74904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 Semibold"/>
              </a:rPr>
              <a:t>Feature 2 — Automatic Resumption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325880"/>
            <a:ext cx="4114800" cy="475488"/>
          </a:xfrm>
          <a:prstGeom prst="roundRect">
            <a:avLst>
              <a:gd name="adj" fmla="val 6000"/>
            </a:avLst>
          </a:prstGeom>
          <a:solidFill>
            <a:srgbClr val="163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1250" b="1">
                <a:solidFill>
                  <a:srgbClr val="FFFFFF"/>
                </a:solidFill>
                <a:latin typeface="Segoe UI Semibold"/>
              </a:rPr>
              <a:t>Client starts the upload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801368"/>
            <a:ext cx="274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Segoe UI"/>
              </a:rPr>
              <a:t>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984248"/>
            <a:ext cx="4114800" cy="475488"/>
          </a:xfrm>
          <a:prstGeom prst="roundRect">
            <a:avLst>
              <a:gd name="adj" fmla="val 6000"/>
            </a:avLst>
          </a:prstGeom>
          <a:solidFill>
            <a:srgbClr val="163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1250" b="1">
                <a:solidFill>
                  <a:srgbClr val="FFFFFF"/>
                </a:solidFill>
                <a:latin typeface="Segoe UI Semibold"/>
              </a:rPr>
              <a:t>Connection is lost mid-transfer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87168" y="2459736"/>
            <a:ext cx="274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Segoe UI"/>
              </a:rPr>
              <a:t>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616"/>
            <a:ext cx="4114800" cy="475488"/>
          </a:xfrm>
          <a:prstGeom prst="roundRect">
            <a:avLst>
              <a:gd name="adj" fmla="val 6000"/>
            </a:avLst>
          </a:prstGeom>
          <a:solidFill>
            <a:srgbClr val="163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1250" b="1">
                <a:solidFill>
                  <a:srgbClr val="FFFFFF"/>
                </a:solidFill>
                <a:latin typeface="Segoe UI Semibold"/>
              </a:rPr>
              <a:t>Client reconnects and re-sends the header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87168" y="3118104"/>
            <a:ext cx="274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Segoe UI"/>
              </a:rPr>
              <a:t>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300984"/>
            <a:ext cx="4114800" cy="475488"/>
          </a:xfrm>
          <a:prstGeom prst="roundRect">
            <a:avLst>
              <a:gd name="adj" fmla="val 6000"/>
            </a:avLst>
          </a:prstGeom>
          <a:solidFill>
            <a:srgbClr val="163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1250" b="1">
                <a:solidFill>
                  <a:srgbClr val="FFFFFF"/>
                </a:solidFill>
                <a:latin typeface="Segoe UI Semibold"/>
              </a:rPr>
              <a:t>Server replies with its resume offset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87168" y="3776472"/>
            <a:ext cx="274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Segoe UI"/>
              </a:rPr>
              <a:t>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59352"/>
            <a:ext cx="4114800" cy="475488"/>
          </a:xfrm>
          <a:prstGeom prst="roundRect">
            <a:avLst>
              <a:gd name="adj" fmla="val 6000"/>
            </a:avLst>
          </a:prstGeom>
          <a:solidFill>
            <a:srgbClr val="163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1250" b="1">
                <a:solidFill>
                  <a:srgbClr val="FFFFFF"/>
                </a:solidFill>
                <a:latin typeface="Segoe UI Semibold"/>
              </a:rPr>
              <a:t>Only the missing bytes are sent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87168" y="4434840"/>
            <a:ext cx="274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96A8"/>
                </a:solidFill>
                <a:latin typeface="Segoe UI"/>
              </a:rPr>
              <a:t>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617720"/>
            <a:ext cx="4114800" cy="475488"/>
          </a:xfrm>
          <a:prstGeom prst="roundRect">
            <a:avLst>
              <a:gd name="adj" fmla="val 6000"/>
            </a:avLst>
          </a:prstGeom>
          <a:solidFill>
            <a:srgbClr val="118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1250" b="1">
                <a:solidFill>
                  <a:srgbClr val="FFFFFF"/>
                </a:solidFill>
                <a:latin typeface="Segoe UI Semibold"/>
              </a:rPr>
              <a:t>Transfer completes and is verified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1371600"/>
            <a:ext cx="662940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300">
                <a:solidFill>
                  <a:srgbClr val="1E6FD9"/>
                </a:solidFill>
                <a:latin typeface="Segoe UI"/>
              </a:rPr>
              <a:t>•  </a:t>
            </a:r>
            <a:r>
              <a:rPr sz="1300" b="1">
                <a:solidFill>
                  <a:srgbClr val="0B1F3A"/>
                </a:solidFill>
                <a:latin typeface="Segoe UI Semibold"/>
              </a:rPr>
              <a:t>No checkpoint file.</a:t>
            </a:r>
            <a:r>
              <a:rPr sz="1300">
                <a:solidFill>
                  <a:srgbClr val="4A5568"/>
                </a:solidFill>
                <a:latin typeface="Segoe UI"/>
              </a:rPr>
              <a:t>  The resume offset is simply the current size of received_&lt;name&gt; on disk. There is no extra state that can be corrupted, and it survives a server restart for free.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300">
                <a:solidFill>
                  <a:srgbClr val="1E6FD9"/>
                </a:solidFill>
                <a:latin typeface="Segoe UI"/>
              </a:rPr>
              <a:t>•  </a:t>
            </a:r>
            <a:r>
              <a:rPr sz="1300" b="1">
                <a:solidFill>
                  <a:srgbClr val="0B1F3A"/>
                </a:solidFill>
                <a:latin typeface="Segoe UI Semibold"/>
              </a:rPr>
              <a:t>Stale partials are handled.</a:t>
            </a:r>
            <a:r>
              <a:rPr sz="1300">
                <a:solidFill>
                  <a:srgbClr val="4A5568"/>
                </a:solidFill>
                <a:latin typeface="Segoe UI"/>
              </a:rPr>
              <a:t>  If the stored copy is larger than the source, it is treated as stale and the transfer restarts from zero rather than producing a corrupt file.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300">
                <a:solidFill>
                  <a:srgbClr val="1E6FD9"/>
                </a:solidFill>
                <a:latin typeface="Segoe UI"/>
              </a:rPr>
              <a:t>•  </a:t>
            </a:r>
            <a:r>
              <a:rPr sz="1300" b="1">
                <a:solidFill>
                  <a:srgbClr val="0B1F3A"/>
                </a:solidFill>
                <a:latin typeface="Segoe UI Semibold"/>
              </a:rPr>
              <a:t>Bandwidth is actually saved.</a:t>
            </a:r>
            <a:r>
              <a:rPr sz="1300">
                <a:solidFill>
                  <a:srgbClr val="4A5568"/>
                </a:solidFill>
                <a:latin typeface="Segoe UI"/>
              </a:rPr>
              <a:t>  Measured: a 24 MB transfer re-sent only the bytes that were missing, and a 220 MB transfer was interrupted and resumed to a matching digest.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300">
                <a:solidFill>
                  <a:srgbClr val="1E6FD9"/>
                </a:solidFill>
                <a:latin typeface="Segoe UI"/>
              </a:rPr>
              <a:t>•  </a:t>
            </a:r>
            <a:r>
              <a:rPr sz="1300" b="1">
                <a:solidFill>
                  <a:srgbClr val="0B1F3A"/>
                </a:solidFill>
                <a:latin typeface="Segoe UI Semibold"/>
              </a:rPr>
              <a:t>Proven by the test suite.</a:t>
            </a:r>
            <a:r>
              <a:rPr sz="1300">
                <a:solidFill>
                  <a:srgbClr val="4A5568"/>
                </a:solidFill>
                <a:latin typeface="Segoe UI"/>
              </a:rPr>
              <a:t>  The suite kills a client in the middle of a transfer, re-runs the same command, and checks the final hash.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230368"/>
            <a:ext cx="4114800" cy="566928"/>
          </a:xfrm>
          <a:prstGeom prst="roundRect">
            <a:avLst>
              <a:gd name="adj" fmla="val 5000"/>
            </a:avLst>
          </a:prstGeom>
          <a:solidFill>
            <a:srgbClr val="ECF6F8"/>
          </a:solidFill>
          <a:ln w="12700">
            <a:solidFill>
              <a:srgbClr val="B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539496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8AA0"/>
                </a:solidFill>
                <a:latin typeface="Segoe UI Semibold"/>
              </a:rPr>
              <a:t>Design choice: derived state over stored state.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6A8"/>
                </a:solidFill>
                <a:latin typeface="Segoe UI"/>
              </a:rPr>
              <a:t>Secure Resumable File Transfer  ·  v1.0.0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10367" y="6437376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6A8"/>
                </a:solidFill>
                <a:latin typeface="Segoe UI"/>
              </a:rPr>
              <a:t>10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69264"/>
            <a:ext cx="12191695" cy="50292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7160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7EB4F0"/>
                </a:solidFill>
                <a:latin typeface="Segoe UI Semibold"/>
              </a:rPr>
              <a:t>06  ·  PROOF THE BYTES ARRIVED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74904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 Semibold"/>
              </a:rPr>
              <a:t>Feature 3 — Integrity Verification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325880"/>
            <a:ext cx="6309360" cy="749808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325880"/>
            <a:ext cx="45720" cy="749808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435608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E6FD9"/>
                </a:solidFill>
                <a:latin typeface="Segoe UI Semibold"/>
              </a:rPr>
              <a:t>Client computes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32888" y="1435608"/>
            <a:ext cx="4206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A5568"/>
                </a:solidFill>
                <a:latin typeface="Segoe UI"/>
              </a:rPr>
              <a:t>SHA-256 of the source file, streaming, via OpenSSL EVP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176272"/>
            <a:ext cx="6309360" cy="749808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2176272"/>
            <a:ext cx="45720" cy="749808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286000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E6FD9"/>
                </a:solidFill>
                <a:latin typeface="Segoe UI Semibold"/>
              </a:rPr>
              <a:t>Client declares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32888" y="2286000"/>
            <a:ext cx="4206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A5568"/>
                </a:solidFill>
                <a:latin typeface="Segoe UI"/>
              </a:rPr>
              <a:t>the 64-character hex digest is the first thing in the request header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026664"/>
            <a:ext cx="6309360" cy="749808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3026664"/>
            <a:ext cx="45720" cy="749808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313639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E6FD9"/>
                </a:solidFill>
                <a:latin typeface="Segoe UI Semibold"/>
              </a:rPr>
              <a:t>Server hashes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32888" y="3136392"/>
            <a:ext cx="4206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A5568"/>
                </a:solidFill>
                <a:latin typeface="Segoe UI"/>
              </a:rPr>
              <a:t>the stored bytes as they arrive, using the same EVP call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877056"/>
            <a:ext cx="6309360" cy="749808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3877056"/>
            <a:ext cx="45720" cy="749808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3986784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E6FD9"/>
                </a:solidFill>
                <a:latin typeface="Segoe UI Semibold"/>
              </a:rPr>
              <a:t>Server compares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32888" y="3986784"/>
            <a:ext cx="4206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A5568"/>
                </a:solidFill>
                <a:latin typeface="Segoe UI"/>
              </a:rPr>
              <a:t>computed digest against the declared digest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727448"/>
            <a:ext cx="6309360" cy="749808"/>
          </a:xfrm>
          <a:prstGeom prst="roundRect">
            <a:avLst>
              <a:gd name="adj" fmla="val 5000"/>
            </a:avLst>
          </a:prstGeom>
          <a:solidFill>
            <a:srgbClr val="E7F6EF"/>
          </a:solidFill>
          <a:ln w="12700">
            <a:solidFill>
              <a:srgbClr val="BFE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4727448"/>
            <a:ext cx="45720" cy="749808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4837176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E8E5A"/>
                </a:solidFill>
                <a:latin typeface="Segoe UI Semibold"/>
              </a:rPr>
              <a:t>Verdict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32888" y="4837176"/>
            <a:ext cx="4206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A5568"/>
                </a:solidFill>
                <a:latin typeface="Segoe UI"/>
              </a:rPr>
              <a:t>match → success, exit 0.  Mismatch → the stored file is deleted and the client exits non-zero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1371600"/>
            <a:ext cx="443484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250">
                <a:solidFill>
                  <a:srgbClr val="1E6FD9"/>
                </a:solidFill>
                <a:latin typeface="Segoe UI"/>
              </a:rPr>
              <a:t>•  </a:t>
            </a:r>
            <a:r>
              <a:rPr sz="1250" b="1">
                <a:solidFill>
                  <a:srgbClr val="0B1F3A"/>
                </a:solidFill>
                <a:latin typeface="Segoe UI Semibold"/>
              </a:rPr>
              <a:t>Bounded memory.</a:t>
            </a:r>
            <a:r>
              <a:rPr sz="1250">
                <a:solidFill>
                  <a:srgbClr val="4A5568"/>
                </a:solidFill>
                <a:latin typeface="Segoe UI"/>
              </a:rPr>
              <a:t>  The digest is computed incrementally through a 64 KB buffer, so hashing a 64 GiB file costs the same memory as hashing 64 KB.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250">
                <a:solidFill>
                  <a:srgbClr val="1E6FD9"/>
                </a:solidFill>
                <a:latin typeface="Segoe UI"/>
              </a:rPr>
              <a:t>•  </a:t>
            </a:r>
            <a:r>
              <a:rPr sz="1250" b="1">
                <a:solidFill>
                  <a:srgbClr val="0B1F3A"/>
                </a:solidFill>
                <a:latin typeface="Segoe UI Semibold"/>
              </a:rPr>
              <a:t>The client exits 0 only when the server confirms a matching hash.</a:t>
            </a:r>
            <a:r>
              <a:rPr sz="1250">
                <a:solidFill>
                  <a:srgbClr val="4A5568"/>
                </a:solidFill>
                <a:latin typeface="Segoe UI"/>
              </a:rPr>
              <a:t>  Success is never reported on a local write() returning.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250">
                <a:solidFill>
                  <a:srgbClr val="1E6FD9"/>
                </a:solidFill>
                <a:latin typeface="Segoe UI"/>
              </a:rPr>
              <a:t>•  </a:t>
            </a:r>
            <a:r>
              <a:rPr sz="1250" b="1">
                <a:solidFill>
                  <a:srgbClr val="0B1F3A"/>
                </a:solidFill>
                <a:latin typeface="Segoe UI Semibold"/>
              </a:rPr>
              <a:t>Mismatch deletes the evidence.</a:t>
            </a:r>
            <a:r>
              <a:rPr sz="1250">
                <a:solidFill>
                  <a:srgbClr val="4A5568"/>
                </a:solidFill>
                <a:latin typeface="Segoe UI"/>
              </a:rPr>
              <a:t>  A file that does not match is removed from disk, so a later resume cannot build on corrupt bytes.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250">
                <a:solidFill>
                  <a:srgbClr val="1E6FD9"/>
                </a:solidFill>
                <a:latin typeface="Segoe UI"/>
              </a:rPr>
              <a:t>•  </a:t>
            </a:r>
            <a:r>
              <a:rPr sz="1250" b="1">
                <a:solidFill>
                  <a:srgbClr val="0B1F3A"/>
                </a:solidFill>
                <a:latin typeface="Segoe UI Semibold"/>
              </a:rPr>
              <a:t>Tested by tampering.</a:t>
            </a:r>
            <a:r>
              <a:rPr sz="1250">
                <a:solidFill>
                  <a:srgbClr val="4A5568"/>
                </a:solidFill>
                <a:latin typeface="Segoe UI"/>
              </a:rPr>
              <a:t>  The suite deliberately corrupts a stored file and checks that it is rejected and removed.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6A8"/>
                </a:solidFill>
                <a:latin typeface="Segoe UI"/>
              </a:rPr>
              <a:t>Secure Resumable File Transfer  ·  v1.0.0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10367" y="6437376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6A8"/>
                </a:solidFill>
                <a:latin typeface="Segoe UI"/>
              </a:rPr>
              <a:t>11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69264"/>
            <a:ext cx="12191695" cy="50292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7160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7EB4F0"/>
                </a:solidFill>
                <a:latin typeface="Segoe UI Semibold"/>
              </a:rPr>
              <a:t>06  ·  MANY CLIENTS, ONE SAFE DESTINATION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74904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 Semibold"/>
              </a:rPr>
              <a:t>Feature 4 — Concurrency and Write Safety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984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F3A"/>
                </a:solidFill>
                <a:latin typeface="Segoe UI Semibold"/>
              </a:rPr>
              <a:t>Concurrency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64208"/>
            <a:ext cx="630936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250">
                <a:solidFill>
                  <a:srgbClr val="1E6FD9"/>
                </a:solidFill>
                <a:latin typeface="Segoe UI"/>
              </a:rPr>
              <a:t>•  </a:t>
            </a:r>
            <a:r>
              <a:rPr sz="1250" b="1">
                <a:solidFill>
                  <a:srgbClr val="0B1F3A"/>
                </a:solidFill>
                <a:latin typeface="Segoe UI Semibold"/>
              </a:rPr>
              <a:t>Worker pool of 2 to 4 threads.</a:t>
            </a:r>
            <a:r>
              <a:rPr sz="1250">
                <a:solidFill>
                  <a:srgbClr val="4A5568"/>
                </a:solidFill>
                <a:latin typeface="Segoe UI"/>
              </a:rPr>
              <a:t>  min(4, hardware_concurrency), with a floor of 2, all running one shared io_context.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250">
                <a:solidFill>
                  <a:srgbClr val="1E6FD9"/>
                </a:solidFill>
                <a:latin typeface="Segoe UI"/>
              </a:rPr>
              <a:t>•  </a:t>
            </a:r>
            <a:r>
              <a:rPr sz="1250" b="1">
                <a:solidFill>
                  <a:srgbClr val="0B1F3A"/>
                </a:solidFill>
                <a:latin typeface="Segoe UI Semibold"/>
              </a:rPr>
              <a:t>One operation in flight per session.</a:t>
            </a:r>
            <a:r>
              <a:rPr sz="1250">
                <a:solidFill>
                  <a:srgbClr val="4A5568"/>
                </a:solidFill>
                <a:latin typeface="Segoe UI"/>
              </a:rPr>
              <a:t>  Each step is asynchronous, so a session's own handlers are serialised by construction rather than by a lock, and a slow client never occupies a worker.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250">
                <a:solidFill>
                  <a:srgbClr val="1E6FD9"/>
                </a:solidFill>
                <a:latin typeface="Segoe UI"/>
              </a:rPr>
              <a:t>•  </a:t>
            </a:r>
            <a:r>
              <a:rPr sz="1250" b="1">
                <a:solidFill>
                  <a:srgbClr val="0B1F3A"/>
                </a:solidFill>
                <a:latin typeface="Segoe UI Semibold"/>
              </a:rPr>
              <a:t>The client runs a single thread.</a:t>
            </a:r>
            <a:r>
              <a:rPr sz="1250">
                <a:solidFill>
                  <a:srgbClr val="4A5568"/>
                </a:solidFill>
                <a:latin typeface="Segoe UI"/>
              </a:rPr>
              <a:t>  One connection, nothing to parallelise.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250">
                <a:solidFill>
                  <a:srgbClr val="1E6FD9"/>
                </a:solidFill>
                <a:latin typeface="Segoe UI"/>
              </a:rPr>
              <a:t>•  </a:t>
            </a:r>
            <a:r>
              <a:rPr sz="1250" b="1">
                <a:solidFill>
                  <a:srgbClr val="0B1F3A"/>
                </a:solidFill>
                <a:latin typeface="Segoe UI Semibold"/>
              </a:rPr>
              <a:t>64 KB chunk buffer, allocated once per session</a:t>
            </a:r>
            <a:r>
              <a:rPr sz="1250">
                <a:solidFill>
                  <a:srgbClr val="4A5568"/>
                </a:solidFill>
                <a:latin typeface="Segoe UI"/>
              </a:rPr>
              <a:t>  and reused for every chunk, so there is no per-chunk allocation.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250">
                <a:solidFill>
                  <a:srgbClr val="1E6FD9"/>
                </a:solidFill>
                <a:latin typeface="Segoe UI"/>
              </a:rPr>
              <a:t>•  </a:t>
            </a:r>
            <a:r>
              <a:rPr sz="1250" b="1">
                <a:solidFill>
                  <a:srgbClr val="0B1F3A"/>
                </a:solidFill>
                <a:latin typeface="Segoe UI Semibold"/>
              </a:rPr>
              <a:t>Minimal shared state.</a:t>
            </a:r>
            <a:r>
              <a:rPr sz="1250">
                <a:solidFill>
                  <a:srgbClr val="4A5568"/>
                </a:solidFill>
                <a:latin typeface="Segoe UI"/>
              </a:rPr>
              <a:t>  Only the destination claim set and the log are shared, both guarded by a mutex.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956048"/>
            <a:ext cx="6309360" cy="841248"/>
          </a:xfrm>
          <a:prstGeom prst="roundRect">
            <a:avLst>
              <a:gd name="adj" fmla="val 5000"/>
            </a:avLst>
          </a:prstGeom>
          <a:solidFill>
            <a:srgbClr val="E8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5084064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6FD9"/>
                </a:solidFill>
                <a:latin typeface="Segoe UI Semibold"/>
              </a:rPr>
              <a:t>The trade-off, stated plainly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5358384"/>
            <a:ext cx="5852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0B1F3A"/>
                </a:solidFill>
                <a:latin typeface="Segoe UI"/>
              </a:rPr>
              <a:t>A blocking design would pin a worker thread per slow client. Going async buys concurrency from a small fixed pool at the cost of a longer handler chain.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129844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F3A"/>
                </a:solidFill>
                <a:latin typeface="Segoe UI Semibold"/>
              </a:rPr>
              <a:t>One writer per destination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1664208"/>
            <a:ext cx="443484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250">
                <a:solidFill>
                  <a:srgbClr val="1E6FD9"/>
                </a:solidFill>
                <a:latin typeface="Segoe UI"/>
              </a:rPr>
              <a:t>•  </a:t>
            </a:r>
            <a:r>
              <a:rPr sz="1250">
                <a:solidFill>
                  <a:srgbClr val="4A5568"/>
                </a:solidFill>
                <a:latin typeface="Segoe UI"/>
              </a:rPr>
              <a:t/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250">
                <a:solidFill>
                  <a:srgbClr val="1E6FD9"/>
                </a:solidFill>
                <a:latin typeface="Segoe UI"/>
              </a:rPr>
              <a:t>•  </a:t>
            </a:r>
            <a:r>
              <a:rPr sz="1250">
                <a:solidFill>
                  <a:srgbClr val="4A5568"/>
                </a:solidFill>
                <a:latin typeface="Segoe UI"/>
              </a:rPr>
              <a:t/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250">
                <a:solidFill>
                  <a:srgbClr val="1E6FD9"/>
                </a:solidFill>
                <a:latin typeface="Segoe UI"/>
              </a:rPr>
              <a:t>•  </a:t>
            </a:r>
            <a:r>
              <a:rPr sz="1250">
                <a:solidFill>
                  <a:srgbClr val="4A5568"/>
                </a:solidFill>
                <a:latin typeface="Segoe UI"/>
              </a:rPr>
              <a:t/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250">
                <a:solidFill>
                  <a:srgbClr val="1E6FD9"/>
                </a:solidFill>
                <a:latin typeface="Segoe UI"/>
              </a:rPr>
              <a:t>•  </a:t>
            </a:r>
            <a:r>
              <a:rPr sz="1250">
                <a:solidFill>
                  <a:srgbClr val="4A5568"/>
                </a:solidFill>
                <a:latin typeface="Segoe UI"/>
              </a:rPr>
              <a:t/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250">
                <a:solidFill>
                  <a:srgbClr val="1E6FD9"/>
                </a:solidFill>
                <a:latin typeface="Segoe UI"/>
              </a:rPr>
              <a:t>•  </a:t>
            </a:r>
            <a:r>
              <a:rPr sz="1250">
                <a:solidFill>
                  <a:srgbClr val="4A5568"/>
                </a:solidFill>
                <a:latin typeface="Segoe UI"/>
              </a:rPr>
              <a:t/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78040" y="4526280"/>
            <a:ext cx="1353312" cy="1280160"/>
          </a:xfrm>
          <a:prstGeom prst="roundRect">
            <a:avLst>
              <a:gd name="adj" fmla="val 6000"/>
            </a:avLst>
          </a:prstGeom>
          <a:solidFill>
            <a:srgbClr val="E7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4654296"/>
            <a:ext cx="13533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1E8E5A"/>
                </a:solidFill>
                <a:latin typeface="Segoe UI Semibold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87768" y="5148072"/>
            <a:ext cx="1133856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4A5568"/>
                </a:solidFill>
                <a:latin typeface="Segoe UI"/>
              </a:rPr>
              <a:t>concurrent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4A5568"/>
                </a:solidFill>
                <a:latin typeface="Segoe UI"/>
              </a:rPr>
              <a:t>uploads verified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87384" y="4526280"/>
            <a:ext cx="1353312" cy="1280160"/>
          </a:xfrm>
          <a:prstGeom prst="roundRect">
            <a:avLst>
              <a:gd name="adj" fmla="val 6000"/>
            </a:avLst>
          </a:prstGeom>
          <a:solidFill>
            <a:srgbClr val="E8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87384" y="4654296"/>
            <a:ext cx="13533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1E6FD9"/>
                </a:solidFill>
                <a:latin typeface="Segoe UI Semibold"/>
              </a:rPr>
              <a:t>2–4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97112" y="5148072"/>
            <a:ext cx="1133856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4A5568"/>
                </a:solidFill>
                <a:latin typeface="Segoe UI"/>
              </a:rPr>
              <a:t>worker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4A5568"/>
                </a:solidFill>
                <a:latin typeface="Segoe UI"/>
              </a:rPr>
              <a:t>threads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396728" y="4526280"/>
            <a:ext cx="1216152" cy="1280160"/>
          </a:xfrm>
          <a:prstGeom prst="roundRect">
            <a:avLst>
              <a:gd name="adj" fmla="val 6000"/>
            </a:avLst>
          </a:prstGeom>
          <a:solidFill>
            <a:srgbClr val="EC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96728" y="4654296"/>
            <a:ext cx="12161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118AA0"/>
                </a:solidFill>
                <a:latin typeface="Segoe UI Semibold"/>
              </a:rPr>
              <a:t>64 KB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06456" y="5148072"/>
            <a:ext cx="996696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4A5568"/>
                </a:solidFill>
                <a:latin typeface="Segoe UI"/>
              </a:rPr>
              <a:t>chunk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4A5568"/>
                </a:solidFill>
                <a:latin typeface="Segoe UI"/>
              </a:rPr>
              <a:t>size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6A8"/>
                </a:solidFill>
                <a:latin typeface="Segoe UI"/>
              </a:rPr>
              <a:t>Secure Resumable File Transfer  ·  v1.0.0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10367" y="6437376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6A8"/>
                </a:solidFill>
                <a:latin typeface="Segoe UI"/>
              </a:rPr>
              <a:t>12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69264"/>
            <a:ext cx="12191695" cy="5029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7160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7EB4F0"/>
                </a:solidFill>
                <a:latin typeface="Segoe UI Semibold"/>
              </a:rPr>
              <a:t>07  ·  CONTROLS AND LIMITS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74904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 Semibold"/>
              </a:rPr>
              <a:t>Security Design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298448"/>
          <a:ext cx="11057838" cy="358444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64459"/>
                <a:gridCol w="8293379"/>
              </a:tblGrid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egoe UI Semibold"/>
                        </a:rPr>
                        <a:t>Control</a:t>
                      </a:r>
                    </a:p>
                  </a:txBody>
                  <a:tcPr marL="91440" marR="91440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egoe UI Semibold"/>
                        </a:rPr>
                        <a:t>How it is implemented</a:t>
                      </a:r>
                    </a:p>
                  </a:txBody>
                  <a:tcPr marL="91440" marR="91440" anchor="ctr">
                    <a:solidFill>
                      <a:srgbClr val="0B1F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0B1F3A"/>
                          </a:solidFill>
                          <a:latin typeface="Segoe UI Semibold"/>
                        </a:rPr>
                        <a:t>Encrypted transport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4A5568"/>
                          </a:solidFill>
                          <a:latin typeface="Segoe UI"/>
                        </a:rPr>
                        <a:t>TLS 1.2 or newer via OpenSSL, with SNI; SSLv2 and SSLv3 disabled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0B1F3A"/>
                          </a:solidFill>
                          <a:latin typeface="Segoe UI Semibold"/>
                        </a:rPr>
                        <a:t>Certificate verification</a:t>
                      </a:r>
                    </a:p>
                  </a:txBody>
                  <a:tcPr marL="91440" marR="91440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4A5568"/>
                          </a:solidFill>
                          <a:latin typeface="Segoe UI"/>
                        </a:rPr>
                        <a:t>Chain and host name checked by default, IP literals such as 127.0.0.1 included</a:t>
                      </a:r>
                    </a:p>
                  </a:txBody>
                  <a:tcPr marL="91440" marR="91440" marT="18288" marB="18288" anchor="ctr"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0B1F3A"/>
                          </a:solidFill>
                          <a:latin typeface="Segoe UI Semibold"/>
                        </a:rPr>
                        <a:t>No silent downgrade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4A5568"/>
                          </a:solidFill>
                          <a:latin typeface="Segoe UI"/>
                        </a:rPr>
                        <a:t>--insecure is available for troubleshooting only, and prints a warning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0B1F3A"/>
                          </a:solidFill>
                          <a:latin typeface="Segoe UI Semibold"/>
                        </a:rPr>
                        <a:t>Fail closed</a:t>
                      </a:r>
                    </a:p>
                  </a:txBody>
                  <a:tcPr marL="91440" marR="91440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4A5568"/>
                          </a:solidFill>
                          <a:latin typeface="Segoe UI"/>
                        </a:rPr>
                        <a:t>The client refuses to start when it has no CA to verify against</a:t>
                      </a:r>
                    </a:p>
                  </a:txBody>
                  <a:tcPr marL="91440" marR="91440" marT="18288" marB="18288" anchor="ctr"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0B1F3A"/>
                          </a:solidFill>
                          <a:latin typeface="Segoe UI Semibold"/>
                        </a:rPr>
                        <a:t>Strict name validation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4A5568"/>
                          </a:solidFill>
                          <a:latin typeface="Segoe UI"/>
                        </a:rPr>
                        <a:t>No path separators, no .., no control characters, no reserved device names; max 255 characters, max 64 GiB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0B1F3A"/>
                          </a:solidFill>
                          <a:latin typeface="Segoe UI Semibold"/>
                        </a:rPr>
                        <a:t>Integrity</a:t>
                      </a:r>
                    </a:p>
                  </a:txBody>
                  <a:tcPr marL="91440" marR="91440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4A5568"/>
                          </a:solidFill>
                          <a:latin typeface="Segoe UI"/>
                        </a:rPr>
                        <a:t>SHA-256 compared after every transfer; a mismatch deletes the stored file</a:t>
                      </a:r>
                    </a:p>
                  </a:txBody>
                  <a:tcPr marL="91440" marR="91440" marT="18288" marB="18288" anchor="ctr"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0B1F3A"/>
                          </a:solidFill>
                          <a:latin typeface="Segoe UI Semibold"/>
                        </a:rPr>
                        <a:t>Exclusive writes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4A5568"/>
                          </a:solidFill>
                          <a:latin typeface="Segoe UI"/>
                        </a:rPr>
                        <a:t>One writer per destination; contention is refused as busy rather than overwritten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66928" y="4773168"/>
            <a:ext cx="11057839" cy="914400"/>
          </a:xfrm>
          <a:prstGeom prst="roundRect">
            <a:avLst>
              <a:gd name="adj" fmla="val 5000"/>
            </a:avLst>
          </a:prstGeom>
          <a:solidFill>
            <a:srgbClr val="FCECEA"/>
          </a:solidFill>
          <a:ln w="12700">
            <a:solidFill>
              <a:srgbClr val="EEC4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4937760"/>
            <a:ext cx="1050919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0392B"/>
                </a:solidFill>
                <a:latin typeface="Segoe UI Semibold"/>
              </a:rPr>
              <a:t>The honest limit:  the server authenticates nobody.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5230368"/>
            <a:ext cx="105091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0B1F3A"/>
                </a:solidFill>
                <a:latin typeface="Segoe UI"/>
              </a:rPr>
              <a:t>Any client that can reach the port may upload. The system must not be exposed to an untrusted network. docs/SECURITY.md documents the threat model and how to harden a deployment.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6A8"/>
                </a:solidFill>
                <a:latin typeface="Segoe UI"/>
              </a:rPr>
              <a:t>Secure Resumable File Transfer  ·  v1.0.0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10367" y="6437376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6A8"/>
                </a:solidFill>
                <a:latin typeface="Segoe UI"/>
              </a:rPr>
              <a:t>13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69264"/>
            <a:ext cx="12191695" cy="50292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7160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7EB4F0"/>
                </a:solidFill>
                <a:latin typeface="Segoe UI Semibold"/>
              </a:rPr>
              <a:t>08  ·  VERIFICATION FROM THE OUTSIDE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74904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 Semibold"/>
              </a:rPr>
              <a:t>Testing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25880"/>
            <a:ext cx="11057839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00">
                <a:solidFill>
                  <a:srgbClr val="1E6FD9"/>
                </a:solidFill>
                <a:latin typeface="Segoe UI"/>
              </a:rPr>
              <a:t>•  </a:t>
            </a:r>
            <a:r>
              <a:rPr sz="1300" b="1">
                <a:solidFill>
                  <a:srgbClr val="0B1F3A"/>
                </a:solidFill>
                <a:latin typeface="Segoe UI Semibold"/>
              </a:rPr>
              <a:t>No mocks and no unit-test framework.</a:t>
            </a:r>
            <a:r>
              <a:rPr sz="1300">
                <a:solidFill>
                  <a:srgbClr val="4A5568"/>
                </a:solidFill>
                <a:latin typeface="Segoe UI"/>
              </a:rPr>
              <a:t>  The suite starts a real server and drives real clients over real TLS, then checks the outcome from outside the process. Every defect listed later was found this way.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00">
                <a:solidFill>
                  <a:srgbClr val="1E6FD9"/>
                </a:solidFill>
                <a:latin typeface="Segoe UI"/>
              </a:rPr>
              <a:t>•  </a:t>
            </a:r>
            <a:r>
              <a:rPr sz="1300" b="1">
                <a:solidFill>
                  <a:srgbClr val="0B1F3A"/>
                </a:solidFill>
                <a:latin typeface="Segoe UI Semibold"/>
              </a:rPr>
              <a:t>Two suites, registered with CTest.</a:t>
            </a:r>
            <a:r>
              <a:rPr sz="1300">
                <a:solidFill>
                  <a:srgbClr val="4A5568"/>
                </a:solidFill>
                <a:latin typeface="Segoe UI"/>
              </a:rPr>
              <a:t>  A 51-check PowerShell suite drives the whole requirement list; a Bash smoke test gives Linux CI one real transfer with an externally computed SHA-256 comparison.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00">
                <a:solidFill>
                  <a:srgbClr val="1E6FD9"/>
                </a:solidFill>
                <a:latin typeface="Segoe UI"/>
              </a:rPr>
              <a:t>•  </a:t>
            </a:r>
            <a:r>
              <a:rPr sz="1300" b="1">
                <a:solidFill>
                  <a:srgbClr val="0B1F3A"/>
                </a:solidFill>
                <a:latin typeface="Segoe UI Semibold"/>
              </a:rPr>
              <a:t>Registered with CTest, so CI and a developer run the identical thing.</a:t>
            </a:r>
            <a:r>
              <a:rPr sz="1300">
                <a:solidFill>
                  <a:srgbClr val="4A5568"/>
                </a:solidFill>
                <a:latin typeface="Segoe UI"/>
              </a:rPr>
              <a:t/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3035808"/>
          <a:ext cx="6766559" cy="314553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899954"/>
                <a:gridCol w="1208314"/>
                <a:gridCol w="2658291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 Semibold"/>
                        </a:rPr>
                        <a:t>Test group</a:t>
                      </a:r>
                    </a:p>
                  </a:txBody>
                  <a:tcPr marL="91440" marR="91440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 Semibold"/>
                        </a:rPr>
                        <a:t>Checks</a:t>
                      </a:r>
                    </a:p>
                  </a:txBody>
                  <a:tcPr marL="91440" marR="91440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 Semibold"/>
                        </a:rPr>
                        <a:t>Covers</a:t>
                      </a:r>
                    </a:p>
                  </a:txBody>
                  <a:tcPr marL="91440" marR="91440" anchor="ctr">
                    <a:solidFill>
                      <a:srgbClr val="0B1F3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0B1F3A"/>
                          </a:solidFill>
                          <a:latin typeface="Segoe UI Semibold"/>
                        </a:rPr>
                        <a:t>Command line handling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4A5568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4A5568"/>
                          </a:solidFill>
                          <a:latin typeface="Segoe UI"/>
                        </a:rPr>
                        <a:t>FR-17, FR-19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0B1F3A"/>
                          </a:solidFill>
                          <a:latin typeface="Segoe UI Semibold"/>
                        </a:rPr>
                        <a:t>Clean transfer</a:t>
                      </a:r>
                    </a:p>
                  </a:txBody>
                  <a:tcPr marL="91440" marR="91440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4A5568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4A5568"/>
                          </a:solidFill>
                          <a:latin typeface="Segoe UI"/>
                        </a:rPr>
                        <a:t>FR-01, FR-02, FR-06, FR-14, FR-19</a:t>
                      </a:r>
                    </a:p>
                  </a:txBody>
                  <a:tcPr marL="91440" marR="91440" marT="18288" marB="18288" anchor="ctr">
                    <a:solidFill>
                      <a:srgbClr val="F7F9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0B1F3A"/>
                          </a:solidFill>
                          <a:latin typeface="Segoe UI Semibold"/>
                        </a:rPr>
                        <a:t>Certificate verification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4A5568"/>
                          </a:solidFill>
                          <a:latin typeface="Segoe UI"/>
                        </a:rPr>
                        <a:t>4 + 1 skipped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4A5568"/>
                          </a:solidFill>
                          <a:latin typeface="Segoe UI"/>
                        </a:rPr>
                        <a:t>FR-03, FR-04, FR-05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0B1F3A"/>
                          </a:solidFill>
                          <a:latin typeface="Segoe UI Semibold"/>
                        </a:rPr>
                        <a:t>Integrity</a:t>
                      </a:r>
                    </a:p>
                  </a:txBody>
                  <a:tcPr marL="91440" marR="91440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4A5568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4A5568"/>
                          </a:solidFill>
                          <a:latin typeface="Segoe UI"/>
                        </a:rPr>
                        <a:t>FR-12, FR-13, FR-18</a:t>
                      </a:r>
                    </a:p>
                  </a:txBody>
                  <a:tcPr marL="91440" marR="91440" marT="18288" marB="18288" anchor="ctr">
                    <a:solidFill>
                      <a:srgbClr val="F7F9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0B1F3A"/>
                          </a:solidFill>
                          <a:latin typeface="Segoe UI Semibold"/>
                        </a:rPr>
                        <a:t>Resuming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4A5568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4A5568"/>
                          </a:solidFill>
                          <a:latin typeface="Segoe UI"/>
                        </a:rPr>
                        <a:t>FR-08, FR-09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0B1F3A"/>
                          </a:solidFill>
                          <a:latin typeface="Segoe UI Semibold"/>
                        </a:rPr>
                        <a:t>Interruption</a:t>
                      </a:r>
                    </a:p>
                  </a:txBody>
                  <a:tcPr marL="91440" marR="91440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4A5568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4A5568"/>
                          </a:solidFill>
                          <a:latin typeface="Segoe UI"/>
                        </a:rPr>
                        <a:t>FR-20</a:t>
                      </a:r>
                    </a:p>
                  </a:txBody>
                  <a:tcPr marL="91440" marR="91440" marT="18288" marB="18288" anchor="ctr">
                    <a:solidFill>
                      <a:srgbClr val="F7F9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0B1F3A"/>
                          </a:solidFill>
                          <a:latin typeface="Segoe UI Semibold"/>
                        </a:rPr>
                        <a:t>Concurrency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4A5568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4A5568"/>
                          </a:solidFill>
                          <a:latin typeface="Segoe UI"/>
                        </a:rPr>
                        <a:t>FR-10, FR-11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0B1F3A"/>
                          </a:solidFill>
                          <a:latin typeface="Segoe UI Semibold"/>
                        </a:rPr>
                        <a:t>Server without a certificate</a:t>
                      </a:r>
                    </a:p>
                  </a:txBody>
                  <a:tcPr marL="91440" marR="91440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4A5568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4A5568"/>
                          </a:solidFill>
                          <a:latin typeface="Segoe UI"/>
                        </a:rPr>
                        <a:t>FR-16</a:t>
                      </a:r>
                    </a:p>
                  </a:txBody>
                  <a:tcPr marL="91440" marR="91440" marT="18288" marB="18288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635240" y="3035808"/>
            <a:ext cx="3977639" cy="1600200"/>
          </a:xfrm>
          <a:prstGeom prst="roundRect">
            <a:avLst>
              <a:gd name="adj" fmla="val 4000"/>
            </a:avLst>
          </a:prstGeom>
          <a:solidFill>
            <a:srgbClr val="E7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35240" y="3035808"/>
            <a:ext cx="50292" cy="160020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54696" y="3182112"/>
            <a:ext cx="36118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F3A"/>
                </a:solidFill>
                <a:latin typeface="Segoe UI Semibold"/>
              </a:rPr>
              <a:t>Coverage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54696" y="3566160"/>
            <a:ext cx="3593591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100">
                <a:solidFill>
                  <a:srgbClr val="1E6FD9"/>
                </a:solidFill>
                <a:latin typeface="Segoe UI"/>
              </a:rPr>
              <a:t>•  </a:t>
            </a:r>
            <a:r>
              <a:rPr sz="1100">
                <a:solidFill>
                  <a:srgbClr val="4A5568"/>
                </a:solidFill>
                <a:latin typeface="Segoe UI"/>
              </a:rPr>
              <a:t/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100">
                <a:solidFill>
                  <a:srgbClr val="1E6FD9"/>
                </a:solidFill>
                <a:latin typeface="Segoe UI"/>
              </a:rPr>
              <a:t>•  </a:t>
            </a:r>
            <a:r>
              <a:rPr sz="1100">
                <a:solidFill>
                  <a:srgbClr val="4A5568"/>
                </a:solidFill>
                <a:latin typeface="Segoe UI"/>
              </a:rPr>
              <a:t/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100">
                <a:solidFill>
                  <a:srgbClr val="1E6FD9"/>
                </a:solidFill>
                <a:latin typeface="Segoe UI"/>
              </a:rPr>
              <a:t>•  </a:t>
            </a:r>
            <a:r>
              <a:rPr sz="1100">
                <a:solidFill>
                  <a:srgbClr val="4A5568"/>
                </a:solidFill>
                <a:latin typeface="Segoe UI"/>
              </a:rPr>
              <a:t/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4800600"/>
            <a:ext cx="1920240" cy="1051560"/>
          </a:xfrm>
          <a:prstGeom prst="roundRect">
            <a:avLst>
              <a:gd name="adj" fmla="val 6000"/>
            </a:avLst>
          </a:prstGeom>
          <a:solidFill>
            <a:srgbClr val="E7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35240" y="4928616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1E8E5A"/>
                </a:solidFill>
                <a:latin typeface="Segoe UI Semibold"/>
              </a:rPr>
              <a:t>51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44968" y="5422392"/>
            <a:ext cx="1700784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4A5568"/>
                </a:solidFill>
                <a:latin typeface="Segoe UI"/>
              </a:rPr>
              <a:t>checks in 8 groups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92640" y="4800600"/>
            <a:ext cx="1920240" cy="1051560"/>
          </a:xfrm>
          <a:prstGeom prst="roundRect">
            <a:avLst>
              <a:gd name="adj" fmla="val 6000"/>
            </a:avLst>
          </a:prstGeom>
          <a:solidFill>
            <a:srgbClr val="E8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0" y="4928616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1E6FD9"/>
                </a:solidFill>
                <a:latin typeface="Segoe UI Semibold"/>
              </a:rPr>
              <a:t>20/20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02368" y="5422392"/>
            <a:ext cx="1700784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4A5568"/>
                </a:solidFill>
                <a:latin typeface="Segoe UI"/>
              </a:rPr>
              <a:t>requirements traced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6A8"/>
                </a:solidFill>
                <a:latin typeface="Segoe UI"/>
              </a:rPr>
              <a:t>Secure Resumable File Transfer  ·  v1.0.0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10367" y="6437376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6A8"/>
                </a:solidFill>
                <a:latin typeface="Segoe UI"/>
              </a:rPr>
              <a:t>14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69264"/>
            <a:ext cx="12191695" cy="50292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7160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7EB4F0"/>
                </a:solidFill>
                <a:latin typeface="Segoe UI Semibold"/>
              </a:rPr>
              <a:t>08  ·  NUMBERS, NOT CLAIMS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74904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 Semibold"/>
              </a:rPr>
              <a:t>Test Results and Measured Performance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325880"/>
            <a:ext cx="2487168" cy="1234440"/>
          </a:xfrm>
          <a:prstGeom prst="roundRect">
            <a:avLst>
              <a:gd name="adj" fmla="val 6000"/>
            </a:avLst>
          </a:prstGeom>
          <a:solidFill>
            <a:srgbClr val="E7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453896"/>
            <a:ext cx="24871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1E8E5A"/>
                </a:solidFill>
                <a:latin typeface="Segoe UI Semibold"/>
              </a:rPr>
              <a:t>~267 MB/s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1947672"/>
            <a:ext cx="2267712" cy="539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4A5568"/>
                </a:solidFill>
                <a:latin typeface="Segoe UI"/>
              </a:rPr>
              <a:t>8 MB transfer on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4A5568"/>
                </a:solidFill>
                <a:latin typeface="Segoe UI"/>
              </a:rPr>
              <a:t>loopback, digests matched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325880"/>
            <a:ext cx="2487168" cy="1234440"/>
          </a:xfrm>
          <a:prstGeom prst="roundRect">
            <a:avLst>
              <a:gd name="adj" fmla="val 6000"/>
            </a:avLst>
          </a:prstGeom>
          <a:solidFill>
            <a:srgbClr val="E8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1453896"/>
            <a:ext cx="24871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1E6FD9"/>
                </a:solidFill>
                <a:latin typeface="Segoe UI Semibold"/>
              </a:rPr>
              <a:t>0.03 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01568" y="1947672"/>
            <a:ext cx="2267712" cy="539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4A5568"/>
                </a:solidFill>
                <a:latin typeface="Segoe UI"/>
              </a:rPr>
              <a:t>wall-clock for that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4A5568"/>
                </a:solidFill>
                <a:latin typeface="Segoe UI"/>
              </a:rPr>
              <a:t>8 MB transfer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16752" y="1325880"/>
            <a:ext cx="2487168" cy="1234440"/>
          </a:xfrm>
          <a:prstGeom prst="roundRect">
            <a:avLst>
              <a:gd name="adj" fmla="val 6000"/>
            </a:avLst>
          </a:prstGeom>
          <a:solidFill>
            <a:srgbClr val="EC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16752" y="1453896"/>
            <a:ext cx="24871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118AA0"/>
                </a:solidFill>
                <a:latin typeface="Segoe UI Semibold"/>
              </a:rPr>
              <a:t>220 MB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947672"/>
            <a:ext cx="2267712" cy="539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4A5568"/>
                </a:solidFill>
                <a:latin typeface="Segoe UI"/>
              </a:rPr>
              <a:t>interrupted then resumed,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4A5568"/>
                </a:solidFill>
                <a:latin typeface="Segoe UI"/>
              </a:rPr>
              <a:t>final digest matched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41664" y="1325880"/>
            <a:ext cx="2487168" cy="1234440"/>
          </a:xfrm>
          <a:prstGeom prst="roundRect">
            <a:avLst>
              <a:gd name="adj" fmla="val 6000"/>
            </a:avLst>
          </a:prstGeom>
          <a:solidFill>
            <a:srgbClr val="E7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41664" y="1453896"/>
            <a:ext cx="24871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1E8E5A"/>
                </a:solidFill>
                <a:latin typeface="Segoe UI Semibold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51392" y="1947672"/>
            <a:ext cx="2267712" cy="539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4A5568"/>
                </a:solidFill>
                <a:latin typeface="Segoe UI"/>
              </a:rPr>
              <a:t>concurrent uploads,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4A5568"/>
                </a:solidFill>
                <a:latin typeface="Segoe UI"/>
              </a:rPr>
              <a:t>all byte-for-byte intact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2788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F3A"/>
                </a:solidFill>
                <a:latin typeface="Segoe UI Semibold"/>
              </a:rPr>
              <a:t>Measured results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154680"/>
            <a:ext cx="676656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250">
                <a:solidFill>
                  <a:srgbClr val="1E6FD9"/>
                </a:solidFill>
                <a:latin typeface="Segoe UI"/>
              </a:rPr>
              <a:t>•  </a:t>
            </a:r>
            <a:r>
              <a:rPr sz="1250">
                <a:solidFill>
                  <a:srgbClr val="4A5568"/>
                </a:solidFill>
                <a:latin typeface="Segoe UI"/>
              </a:rPr>
              <a:t/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250">
                <a:solidFill>
                  <a:srgbClr val="1E6FD9"/>
                </a:solidFill>
                <a:latin typeface="Segoe UI"/>
              </a:rPr>
              <a:t>•  </a:t>
            </a:r>
            <a:r>
              <a:rPr sz="1250">
                <a:solidFill>
                  <a:srgbClr val="4A5568"/>
                </a:solidFill>
                <a:latin typeface="Segoe UI"/>
              </a:rPr>
              <a:t/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250">
                <a:solidFill>
                  <a:srgbClr val="1E6FD9"/>
                </a:solidFill>
                <a:latin typeface="Segoe UI"/>
              </a:rPr>
              <a:t>•  </a:t>
            </a:r>
            <a:r>
              <a:rPr sz="1250">
                <a:solidFill>
                  <a:srgbClr val="4A5568"/>
                </a:solidFill>
                <a:latin typeface="Segoe UI"/>
              </a:rPr>
              <a:t/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35240" y="2788920"/>
            <a:ext cx="3977639" cy="2926080"/>
          </a:xfrm>
          <a:prstGeom prst="roundRect">
            <a:avLst>
              <a:gd name="adj" fmla="val 4000"/>
            </a:avLst>
          </a:prstGeom>
          <a:solidFill>
            <a:srgbClr val="E8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35240" y="2788920"/>
            <a:ext cx="50292" cy="2926080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54696" y="2935224"/>
            <a:ext cx="36118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F3A"/>
                </a:solidFill>
                <a:latin typeface="Segoe UI Semibold"/>
              </a:rPr>
              <a:t>Environment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54696" y="3319272"/>
            <a:ext cx="3593591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150">
                <a:solidFill>
                  <a:srgbClr val="1E6FD9"/>
                </a:solidFill>
                <a:latin typeface="Segoe UI"/>
              </a:rPr>
              <a:t>•  </a:t>
            </a:r>
            <a:r>
              <a:rPr sz="1150">
                <a:solidFill>
                  <a:srgbClr val="4A5568"/>
                </a:solidFill>
                <a:latin typeface="Segoe UI"/>
              </a:rPr>
              <a:t/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150">
                <a:solidFill>
                  <a:srgbClr val="1E6FD9"/>
                </a:solidFill>
                <a:latin typeface="Segoe UI"/>
              </a:rPr>
              <a:t>•  </a:t>
            </a:r>
            <a:r>
              <a:rPr sz="1150">
                <a:solidFill>
                  <a:srgbClr val="4A5568"/>
                </a:solidFill>
                <a:latin typeface="Segoe UI"/>
              </a:rPr>
              <a:t/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150">
                <a:solidFill>
                  <a:srgbClr val="1E6FD9"/>
                </a:solidFill>
                <a:latin typeface="Segoe UI"/>
              </a:rPr>
              <a:t>•  </a:t>
            </a:r>
            <a:r>
              <a:rPr sz="1150">
                <a:solidFill>
                  <a:srgbClr val="4A5568"/>
                </a:solidFill>
                <a:latin typeface="Segoe UI"/>
              </a:rPr>
              <a:t/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150">
                <a:solidFill>
                  <a:srgbClr val="1E6FD9"/>
                </a:solidFill>
                <a:latin typeface="Segoe UI"/>
              </a:rPr>
              <a:t>•  </a:t>
            </a:r>
            <a:r>
              <a:rPr sz="1150">
                <a:solidFill>
                  <a:srgbClr val="4A5568"/>
                </a:solidFill>
                <a:latin typeface="Segoe UI"/>
              </a:rPr>
              <a:t/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150">
                <a:solidFill>
                  <a:srgbClr val="1E6FD9"/>
                </a:solidFill>
                <a:latin typeface="Segoe UI"/>
              </a:rPr>
              <a:t>•  </a:t>
            </a:r>
            <a:r>
              <a:rPr sz="1150">
                <a:solidFill>
                  <a:srgbClr val="4A5568"/>
                </a:solidFill>
                <a:latin typeface="Segoe UI"/>
              </a:rPr>
              <a:t/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150">
                <a:solidFill>
                  <a:srgbClr val="1E6FD9"/>
                </a:solidFill>
                <a:latin typeface="Segoe UI"/>
              </a:rPr>
              <a:t>•  </a:t>
            </a:r>
            <a:r>
              <a:rPr sz="1150">
                <a:solidFill>
                  <a:srgbClr val="4A5568"/>
                </a:solidFill>
                <a:latin typeface="Segoe UI"/>
              </a:rPr>
              <a:t/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349240"/>
            <a:ext cx="6766560" cy="548640"/>
          </a:xfrm>
          <a:prstGeom prst="roundRect">
            <a:avLst>
              <a:gd name="adj" fmla="val 5000"/>
            </a:avLst>
          </a:prstGeom>
          <a:solidFill>
            <a:srgbClr val="FDF3E0"/>
          </a:solidFill>
          <a:ln w="12700">
            <a:solidFill>
              <a:srgbClr val="E8D4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51383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B56E00"/>
                </a:solidFill>
                <a:latin typeface="Segoe UI"/>
              </a:rPr>
              <a:t>Not yet done: the full 997-file bulk run, and a cross-machine transfer.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6A8"/>
                </a:solidFill>
                <a:latin typeface="Segoe UI"/>
              </a:rPr>
              <a:t>Secure Resumable File Transfer  ·  v1.0.0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10367" y="6437376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6A8"/>
                </a:solidFill>
                <a:latin typeface="Segoe UI"/>
              </a:rPr>
              <a:t>15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69264"/>
            <a:ext cx="12191695" cy="50292"/>
          </a:xfrm>
          <a:prstGeom prst="rect">
            <a:avLst/>
          </a:prstGeom>
          <a:solidFill>
            <a:srgbClr val="B5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7160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7EB4F0"/>
                </a:solidFill>
                <a:latin typeface="Segoe UI Semibold"/>
              </a:rPr>
              <a:t>09  ·  WHAT TESTING ACTUALLY CAUGHT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74904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 Semibold"/>
              </a:rPr>
              <a:t>Defects Found and Fixed by the Suite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353312"/>
            <a:ext cx="5468112" cy="804672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13232" y="1600200"/>
            <a:ext cx="310896" cy="310896"/>
          </a:xfrm>
          <a:prstGeom prst="roundRect">
            <a:avLst>
              <a:gd name="adj" fmla="val 20000"/>
            </a:avLst>
          </a:prstGeom>
          <a:solidFill>
            <a:srgbClr val="B5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1481328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B1F3A"/>
                </a:solidFill>
                <a:latin typeface="Segoe UI Semibold"/>
              </a:rPr>
              <a:t>Server could not replace a stale upload on Windows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1856232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4A5568"/>
                </a:solidFill>
                <a:latin typeface="Segoe UI"/>
              </a:rPr>
              <a:t>A leftover partial file blocked the next transfer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286000"/>
            <a:ext cx="5468112" cy="804672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532888"/>
            <a:ext cx="310896" cy="310896"/>
          </a:xfrm>
          <a:prstGeom prst="roundRect">
            <a:avLst>
              <a:gd name="adj" fmla="val 20000"/>
            </a:avLst>
          </a:prstGeom>
          <a:solidFill>
            <a:srgbClr val="B5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" y="2414016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B1F3A"/>
                </a:solidFill>
                <a:latin typeface="Segoe UI Semibold"/>
              </a:rPr>
              <a:t>A killed client's failure was invisible to the test script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" y="2788920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4A5568"/>
                </a:solidFill>
                <a:latin typeface="Segoe UI"/>
              </a:rPr>
              <a:t>The suite passed while the client had died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18688"/>
            <a:ext cx="5468112" cy="804672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13232" y="3465576"/>
            <a:ext cx="310896" cy="310896"/>
          </a:xfrm>
          <a:prstGeom prst="roundRect">
            <a:avLst>
              <a:gd name="adj" fmla="val 20000"/>
            </a:avLst>
          </a:prstGeom>
          <a:solidFill>
            <a:srgbClr val="B5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" y="3346704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B1F3A"/>
                </a:solidFill>
                <a:latin typeface="Segoe UI Semibold"/>
              </a:rPr>
              <a:t>The busy check failed intermittently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" y="3721608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4A5568"/>
                </a:solidFill>
                <a:latin typeface="Segoe UI"/>
              </a:rPr>
              <a:t>A race between claiming and releasing a destination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151376"/>
            <a:ext cx="5468112" cy="804672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13232" y="4398264"/>
            <a:ext cx="310896" cy="310896"/>
          </a:xfrm>
          <a:prstGeom prst="roundRect">
            <a:avLst>
              <a:gd name="adj" fmla="val 20000"/>
            </a:avLst>
          </a:prstGeom>
          <a:solidFill>
            <a:srgbClr val="B5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" y="4279392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B1F3A"/>
                </a:solidFill>
                <a:latin typeface="Segoe UI Semibold"/>
              </a:rPr>
              <a:t>Concurrent sessions produced garbled log lines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" y="4654296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4A5568"/>
                </a:solidFill>
                <a:latin typeface="Segoe UI"/>
              </a:rPr>
              <a:t>Interleaved writes from several threads on one terminal line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73368" y="1353312"/>
            <a:ext cx="5468112" cy="804672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19672" y="1600200"/>
            <a:ext cx="310896" cy="310896"/>
          </a:xfrm>
          <a:prstGeom prst="roundRect">
            <a:avLst>
              <a:gd name="adj" fmla="val 20000"/>
            </a:avLst>
          </a:prstGeom>
          <a:solidFill>
            <a:srgbClr val="B5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0296" y="1481328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B1F3A"/>
                </a:solidFill>
                <a:latin typeface="Segoe UI Semibold"/>
              </a:rPr>
              <a:t>A redirected server log was buried under progress updates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0296" y="1856232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4A5568"/>
                </a:solidFill>
                <a:latin typeface="Segoe UI"/>
              </a:rPr>
              <a:t>Progress is now drawn only when the output is a terminal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73368" y="2286000"/>
            <a:ext cx="5468112" cy="804672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519672" y="2532888"/>
            <a:ext cx="310896" cy="310896"/>
          </a:xfrm>
          <a:prstGeom prst="roundRect">
            <a:avLst>
              <a:gd name="adj" fmla="val 20000"/>
            </a:avLst>
          </a:prstGeom>
          <a:solidFill>
            <a:srgbClr val="B5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 Semibold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0296" y="2414016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B1F3A"/>
                </a:solidFill>
                <a:latin typeface="Segoe UI Semibold"/>
              </a:rPr>
              <a:t>Transfer rate printed as 0.0286102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0296" y="2788920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4A5568"/>
                </a:solidFill>
                <a:latin typeface="Segoe UI"/>
              </a:rPr>
              <a:t>A floating-point formatting defect, now two decimals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73368" y="3218688"/>
            <a:ext cx="5468112" cy="804672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519672" y="3465576"/>
            <a:ext cx="310896" cy="310896"/>
          </a:xfrm>
          <a:prstGeom prst="roundRect">
            <a:avLst>
              <a:gd name="adj" fmla="val 20000"/>
            </a:avLst>
          </a:prstGeom>
          <a:solidFill>
            <a:srgbClr val="B5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 Semibold"/>
              </a:rP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0296" y="3346704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B1F3A"/>
                </a:solidFill>
                <a:latin typeface="Segoe UI Semibold"/>
              </a:rPr>
              <a:t>The MinGW build produced no output and returned instantly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0296" y="3721608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4A5568"/>
                </a:solidFill>
                <a:latin typeface="Segoe UI"/>
              </a:rPr>
              <a:t>Exit code 0xC0000135, missing runtime DLLs; the build now stages them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73368" y="4151376"/>
            <a:ext cx="5468112" cy="804672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19672" y="4398264"/>
            <a:ext cx="310896" cy="310896"/>
          </a:xfrm>
          <a:prstGeom prst="roundRect">
            <a:avLst>
              <a:gd name="adj" fmla="val 20000"/>
            </a:avLst>
          </a:prstGeom>
          <a:solidFill>
            <a:srgbClr val="B5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 Semibold"/>
              </a:rPr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0296" y="4279392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B1F3A"/>
                </a:solidFill>
                <a:latin typeface="Segoe UI Semibold"/>
              </a:rPr>
              <a:t>Client failed to verify the certificate from another directory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0296" y="4654296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4A5568"/>
                </a:solidFill>
                <a:latin typeface="Segoe UI"/>
              </a:rPr>
              <a:t>The CA is now looked up next to the executable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5230368"/>
            <a:ext cx="110578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4A5568"/>
                </a:solidFill>
                <a:latin typeface="Segoe UI"/>
              </a:rPr>
              <a:t>Defect 7 was the worst-shaped failure of the eight: it printed nothing, returned success, and only appeared on MinGW. It is the reason CI runs the same MinGW toolchain as the local build.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6A8"/>
                </a:solidFill>
                <a:latin typeface="Segoe UI"/>
              </a:rPr>
              <a:t>Secure Resumable File Transfer  ·  v1.0.0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10367" y="6437376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6A8"/>
                </a:solidFill>
                <a:latin typeface="Segoe UI"/>
              </a:rPr>
              <a:t>16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69264"/>
            <a:ext cx="12191695" cy="50292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7160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7EB4F0"/>
                </a:solidFill>
                <a:latin typeface="Segoe UI Semibold"/>
              </a:rPr>
              <a:t>10  ·  BUILT AND VERIFIED AUTOMATICALLY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74904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 Semibold"/>
              </a:rPr>
              <a:t>CI/CD and DevOps Pipeline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325880"/>
            <a:ext cx="5532120" cy="3200400"/>
          </a:xfrm>
          <a:prstGeom prst="roundRect">
            <a:avLst>
              <a:gd name="adj" fmla="val 4000"/>
            </a:avLst>
          </a:prstGeom>
          <a:solidFill>
            <a:srgbClr val="E7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325880"/>
            <a:ext cx="50292" cy="320040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472184"/>
            <a:ext cx="5166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F3A"/>
                </a:solidFill>
                <a:latin typeface="Segoe UI Semibold"/>
              </a:rPr>
              <a:t>ci.yml — every push and pull request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1856232"/>
            <a:ext cx="5148072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150">
                <a:solidFill>
                  <a:srgbClr val="1E6FD9"/>
                </a:solidFill>
                <a:latin typeface="Segoe UI"/>
              </a:rPr>
              <a:t>•  </a:t>
            </a:r>
            <a:r>
              <a:rPr sz="1150">
                <a:solidFill>
                  <a:srgbClr val="4A5568"/>
                </a:solidFill>
                <a:latin typeface="Segoe UI"/>
              </a:rPr>
              <a:t/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150">
                <a:solidFill>
                  <a:srgbClr val="1E6FD9"/>
                </a:solidFill>
                <a:latin typeface="Segoe UI"/>
              </a:rPr>
              <a:t>•  </a:t>
            </a:r>
            <a:r>
              <a:rPr sz="1150">
                <a:solidFill>
                  <a:srgbClr val="4A5568"/>
                </a:solidFill>
                <a:latin typeface="Segoe UI"/>
              </a:rPr>
              <a:t/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150">
                <a:solidFill>
                  <a:srgbClr val="1E6FD9"/>
                </a:solidFill>
                <a:latin typeface="Segoe UI"/>
              </a:rPr>
              <a:t>•  </a:t>
            </a:r>
            <a:r>
              <a:rPr sz="1150">
                <a:solidFill>
                  <a:srgbClr val="4A5568"/>
                </a:solidFill>
                <a:latin typeface="Segoe UI"/>
              </a:rPr>
              <a:t/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150">
                <a:solidFill>
                  <a:srgbClr val="1E6FD9"/>
                </a:solidFill>
                <a:latin typeface="Segoe UI"/>
              </a:rPr>
              <a:t>•  </a:t>
            </a:r>
            <a:r>
              <a:rPr sz="1150">
                <a:solidFill>
                  <a:srgbClr val="4A5568"/>
                </a:solidFill>
                <a:latin typeface="Segoe UI"/>
              </a:rPr>
              <a:t/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150">
                <a:solidFill>
                  <a:srgbClr val="1E6FD9"/>
                </a:solidFill>
                <a:latin typeface="Segoe UI"/>
              </a:rPr>
              <a:t>•  </a:t>
            </a:r>
            <a:r>
              <a:rPr sz="1150">
                <a:solidFill>
                  <a:srgbClr val="4A5568"/>
                </a:solidFill>
                <a:latin typeface="Segoe UI"/>
              </a:rPr>
              <a:t/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150">
                <a:solidFill>
                  <a:srgbClr val="1E6FD9"/>
                </a:solidFill>
                <a:latin typeface="Segoe UI"/>
              </a:rPr>
              <a:t>•  </a:t>
            </a:r>
            <a:r>
              <a:rPr sz="1150">
                <a:solidFill>
                  <a:srgbClr val="4A5568"/>
                </a:solidFill>
                <a:latin typeface="Segoe UI"/>
              </a:rPr>
              <a:t/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56832" y="1325880"/>
            <a:ext cx="4956048" cy="3200400"/>
          </a:xfrm>
          <a:prstGeom prst="roundRect">
            <a:avLst>
              <a:gd name="adj" fmla="val 4000"/>
            </a:avLst>
          </a:prstGeom>
          <a:solidFill>
            <a:srgbClr val="E8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56832" y="1325880"/>
            <a:ext cx="50292" cy="3200400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76288" y="1472184"/>
            <a:ext cx="459028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F3A"/>
                </a:solidFill>
                <a:latin typeface="Segoe UI Semibold"/>
              </a:rPr>
              <a:t>release.yml — on a v* tag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76288" y="1856232"/>
            <a:ext cx="457200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150">
                <a:solidFill>
                  <a:srgbClr val="1E6FD9"/>
                </a:solidFill>
                <a:latin typeface="Segoe UI"/>
              </a:rPr>
              <a:t>•  </a:t>
            </a:r>
            <a:r>
              <a:rPr sz="1150">
                <a:solidFill>
                  <a:srgbClr val="4A5568"/>
                </a:solidFill>
                <a:latin typeface="Segoe UI"/>
              </a:rPr>
              <a:t/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150">
                <a:solidFill>
                  <a:srgbClr val="1E6FD9"/>
                </a:solidFill>
                <a:latin typeface="Segoe UI"/>
              </a:rPr>
              <a:t>•  </a:t>
            </a:r>
            <a:r>
              <a:rPr sz="1150">
                <a:solidFill>
                  <a:srgbClr val="4A5568"/>
                </a:solidFill>
                <a:latin typeface="Segoe UI"/>
              </a:rPr>
              <a:t/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150">
                <a:solidFill>
                  <a:srgbClr val="1E6FD9"/>
                </a:solidFill>
                <a:latin typeface="Segoe UI"/>
              </a:rPr>
              <a:t>•  </a:t>
            </a:r>
            <a:r>
              <a:rPr sz="1150">
                <a:solidFill>
                  <a:srgbClr val="4A5568"/>
                </a:solidFill>
                <a:latin typeface="Segoe UI"/>
              </a:rPr>
              <a:t/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150">
                <a:solidFill>
                  <a:srgbClr val="1E6FD9"/>
                </a:solidFill>
                <a:latin typeface="Segoe UI"/>
              </a:rPr>
              <a:t>•  </a:t>
            </a:r>
            <a:r>
              <a:rPr sz="1150">
                <a:solidFill>
                  <a:srgbClr val="4A5568"/>
                </a:solidFill>
                <a:latin typeface="Segoe UI"/>
              </a:rPr>
              <a:t/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150">
                <a:solidFill>
                  <a:srgbClr val="1E6FD9"/>
                </a:solidFill>
                <a:latin typeface="Segoe UI"/>
              </a:rPr>
              <a:t>•  </a:t>
            </a:r>
            <a:r>
              <a:rPr sz="1150">
                <a:solidFill>
                  <a:srgbClr val="4A5568"/>
                </a:solidFill>
                <a:latin typeface="Segoe UI"/>
              </a:rPr>
              <a:t/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150">
                <a:solidFill>
                  <a:srgbClr val="1E6FD9"/>
                </a:solidFill>
                <a:latin typeface="Segoe UI"/>
              </a:rPr>
              <a:t>•  </a:t>
            </a:r>
            <a:r>
              <a:rPr sz="1150">
                <a:solidFill>
                  <a:srgbClr val="4A5568"/>
                </a:solidFill>
                <a:latin typeface="Segoe UI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7091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F3A"/>
                </a:solidFill>
                <a:latin typeface="Segoe UI Semibold"/>
              </a:rPr>
              <a:t>Also in the repository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5047488"/>
            <a:ext cx="11057839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00">
                <a:solidFill>
                  <a:srgbClr val="1E6FD9"/>
                </a:solidFill>
                <a:latin typeface="Segoe UI"/>
              </a:rPr>
              <a:t>•  </a:t>
            </a:r>
            <a:r>
              <a:rPr sz="1200" b="1">
                <a:solidFill>
                  <a:srgbClr val="0B1F3A"/>
                </a:solidFill>
                <a:latin typeface="Segoe UI Semibold"/>
              </a:rPr>
              <a:t>Dependabot v2 </a:t>
            </a:r>
            <a:r>
              <a:rPr sz="1200">
                <a:solidFill>
                  <a:srgbClr val="4A5568"/>
                </a:solidFill>
                <a:latin typeface="Segoe UI"/>
              </a:rPr>
              <a:t>  ·  pull request and issue templates (bug and feature)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00">
                <a:solidFill>
                  <a:srgbClr val="1E6FD9"/>
                </a:solidFill>
                <a:latin typeface="Segoe UI"/>
              </a:rPr>
              <a:t>•  </a:t>
            </a:r>
            <a:r>
              <a:rPr sz="1200" b="1">
                <a:solidFill>
                  <a:srgbClr val="0B1F3A"/>
                </a:solidFill>
                <a:latin typeface="Segoe UI Semibold"/>
              </a:rPr>
              <a:t>The version string lives in CMakeLists.txt only </a:t>
            </a:r>
            <a:r>
              <a:rPr sz="1200">
                <a:solidFill>
                  <a:srgbClr val="4A5568"/>
                </a:solidFill>
                <a:latin typeface="Segoe UI"/>
              </a:rPr>
              <a:t>  —  it is compiled into the binary and referenced by CHANGELOG.md, so a release and a build cannot drift apart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00">
                <a:solidFill>
                  <a:srgbClr val="1E6FD9"/>
                </a:solidFill>
                <a:latin typeface="Segoe UI"/>
              </a:rPr>
              <a:t>•  </a:t>
            </a:r>
            <a:r>
              <a:rPr sz="1200" b="1">
                <a:solidFill>
                  <a:srgbClr val="0B1F3A"/>
                </a:solidFill>
                <a:latin typeface="Segoe UI Semibold"/>
              </a:rPr>
              <a:t>TLS assets and MinGW runtime DLLs are staged next to the executable </a:t>
            </a:r>
            <a:r>
              <a:rPr sz="1200">
                <a:solidFill>
                  <a:srgbClr val="4A5568"/>
                </a:solidFill>
                <a:latin typeface="Segoe UI"/>
              </a:rPr>
              <a:t>  automatically at build time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6A8"/>
                </a:solidFill>
                <a:latin typeface="Segoe UI"/>
              </a:rPr>
              <a:t>Secure Resumable File Transfer  ·  v1.0.0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10367" y="6437376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6A8"/>
                </a:solidFill>
                <a:latin typeface="Segoe UI"/>
              </a:rPr>
              <a:t>17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69264"/>
            <a:ext cx="12191695" cy="50292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7160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7EB4F0"/>
                </a:solidFill>
                <a:latin typeface="Segoe UI Semibold"/>
              </a:rPr>
              <a:t>11  ·  ALTERNATIVES REJECTED, AND WHY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74904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 Semibold"/>
              </a:rPr>
              <a:t>Key Design Decisions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298448"/>
          <a:ext cx="11057838" cy="404164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25203"/>
                <a:gridCol w="2764459"/>
                <a:gridCol w="5068176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 Semibold"/>
                        </a:rPr>
                        <a:t>Decision</a:t>
                      </a:r>
                    </a:p>
                  </a:txBody>
                  <a:tcPr marL="91440" marR="91440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 Semibold"/>
                        </a:rPr>
                        <a:t>Rejected alternative</a:t>
                      </a:r>
                    </a:p>
                  </a:txBody>
                  <a:tcPr marL="91440" marR="91440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 Semibold"/>
                        </a:rPr>
                        <a:t>Reason</a:t>
                      </a:r>
                    </a:p>
                  </a:txBody>
                  <a:tcPr marL="91440" marR="91440" anchor="ctr">
                    <a:solidFill>
                      <a:srgbClr val="0B1F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B1F3A"/>
                          </a:solidFill>
                          <a:latin typeface="Segoe UI Semibold"/>
                        </a:rPr>
                        <a:t>Asynchronous, one operation in flight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4A5568"/>
                          </a:solidFill>
                          <a:latin typeface="Segoe UI"/>
                        </a:rPr>
                        <a:t>Thread per connection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4A5568"/>
                          </a:solidFill>
                          <a:latin typeface="Segoe UI"/>
                        </a:rPr>
                        <a:t>A thread per client cannot scale, and a blocking session pins a worker for the whole transfer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B1F3A"/>
                          </a:solidFill>
                          <a:latin typeface="Segoe UI Semibold"/>
                        </a:rPr>
                        <a:t>Resume offset = stored file length</a:t>
                      </a:r>
                    </a:p>
                  </a:txBody>
                  <a:tcPr marL="91440" marR="91440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4A5568"/>
                          </a:solidFill>
                          <a:latin typeface="Segoe UI"/>
                        </a:rPr>
                        <a:t>A separate checkpoint file</a:t>
                      </a:r>
                    </a:p>
                  </a:txBody>
                  <a:tcPr marL="91440" marR="91440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4A5568"/>
                          </a:solidFill>
                          <a:latin typeface="Segoe UI"/>
                        </a:rPr>
                        <a:t>No extra state that can be corrupted, and it survives a server restart for free</a:t>
                      </a:r>
                    </a:p>
                  </a:txBody>
                  <a:tcPr marL="91440" marR="91440" marT="18288" marB="18288" anchor="ctr"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B1F3A"/>
                          </a:solidFill>
                          <a:latin typeface="Segoe UI Semibold"/>
                        </a:rPr>
                        <a:t>Validate the header, then refuse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4A5568"/>
                          </a:solidFill>
                          <a:latin typeface="Segoe UI"/>
                        </a:rPr>
                        <a:t>Accept, then discover the problem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4A5568"/>
                          </a:solidFill>
                          <a:latin typeface="Segoe UI"/>
                        </a:rPr>
                        <a:t>A refusal must never be mistakable for a resume instruction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B1F3A"/>
                          </a:solidFill>
                          <a:latin typeface="Segoe UI Semibold"/>
                        </a:rPr>
                        <a:t>One writer per destination</a:t>
                      </a:r>
                    </a:p>
                  </a:txBody>
                  <a:tcPr marL="91440" marR="91440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4A5568"/>
                          </a:solidFill>
                          <a:latin typeface="Segoe UI"/>
                        </a:rPr>
                        <a:t>Last-writer-wins or unique names</a:t>
                      </a:r>
                    </a:p>
                  </a:txBody>
                  <a:tcPr marL="91440" marR="91440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4A5568"/>
                          </a:solidFill>
                          <a:latin typeface="Segoe UI"/>
                        </a:rPr>
                        <a:t>Stops two clients silently interleaving chunks into one corrupt file</a:t>
                      </a:r>
                    </a:p>
                  </a:txBody>
                  <a:tcPr marL="91440" marR="91440" marT="18288" marB="18288" anchor="ctr"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B1F3A"/>
                          </a:solidFill>
                          <a:latin typeface="Segoe UI Semibold"/>
                        </a:rPr>
                        <a:t>Incremental EVP hashing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4A5568"/>
                          </a:solidFill>
                          <a:latin typeface="Segoe UI"/>
                        </a:rPr>
                        <a:t>Load the whole file into memory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4A5568"/>
                          </a:solidFill>
                          <a:latin typeface="Segoe UI"/>
                        </a:rPr>
                        <a:t>Bounded memory for any file size: 64 GiB costs the same as 64 KB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B1F3A"/>
                          </a:solidFill>
                          <a:latin typeface="Segoe UI Semibold"/>
                        </a:rPr>
                        <a:t>received_&lt;name&gt; prefix</a:t>
                      </a:r>
                    </a:p>
                  </a:txBody>
                  <a:tcPr marL="91440" marR="91440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4A5568"/>
                          </a:solidFill>
                          <a:latin typeface="Segoe UI"/>
                        </a:rPr>
                        <a:t>Overwrite the source name</a:t>
                      </a:r>
                    </a:p>
                  </a:txBody>
                  <a:tcPr marL="91440" marR="91440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4A5568"/>
                          </a:solidFill>
                          <a:latin typeface="Segoe UI"/>
                        </a:rPr>
                        <a:t>Keeps uploads clear of existing files and makes partials recognisable</a:t>
                      </a:r>
                    </a:p>
                  </a:txBody>
                  <a:tcPr marL="91440" marR="91440" marT="18288" marB="18288" anchor="ctr"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B1F3A"/>
                          </a:solidFill>
                          <a:latin typeface="Segoe UI Semibold"/>
                        </a:rPr>
                        <a:t>Host byte order, one write per scalar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4A5568"/>
                          </a:solidFill>
                          <a:latin typeface="Segoe UI"/>
                        </a:rPr>
                        <a:t>A packed struct on the wire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4A5568"/>
                          </a:solidFill>
                          <a:latin typeface="Segoe UI"/>
                        </a:rPr>
                        <a:t>Removes struct padding as a source of corruption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B1F3A"/>
                          </a:solidFill>
                          <a:latin typeface="Segoe UI Semibold"/>
                        </a:rPr>
                        <a:t>Progress only when output is a terminal</a:t>
                      </a:r>
                    </a:p>
                  </a:txBody>
                  <a:tcPr marL="91440" marR="91440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4A5568"/>
                          </a:solidFill>
                          <a:latin typeface="Segoe UI"/>
                        </a:rPr>
                        <a:t>Always print progress</a:t>
                      </a:r>
                    </a:p>
                  </a:txBody>
                  <a:tcPr marL="91440" marR="91440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4A5568"/>
                          </a:solidFill>
                          <a:latin typeface="Segoe UI"/>
                        </a:rPr>
                        <a:t>A redirected log would be buried under hundreds of identical lines</a:t>
                      </a:r>
                    </a:p>
                  </a:txBody>
                  <a:tcPr marL="91440" marR="91440" marT="18288" marB="18288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6A8"/>
                </a:solidFill>
                <a:latin typeface="Segoe UI"/>
              </a:rPr>
              <a:t>Secure Resumable File Transfer  ·  v1.0.0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10367" y="6437376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6A8"/>
                </a:solidFill>
                <a:latin typeface="Segoe UI"/>
              </a:rPr>
              <a:t>18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69264"/>
            <a:ext cx="12191695" cy="50292"/>
          </a:xfrm>
          <a:prstGeom prst="rect">
            <a:avLst/>
          </a:prstGeom>
          <a:solidFill>
            <a:srgbClr val="118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7160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7EB4F0"/>
                </a:solidFill>
                <a:latin typeface="Segoe UI Semibold"/>
              </a:rPr>
              <a:t>12  ·  THE HARD PARTS, HONESTLY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74904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 Semibold"/>
              </a:rPr>
              <a:t>Challenges Faced and What They Taught 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353312"/>
            <a:ext cx="5468112" cy="1298448"/>
          </a:xfrm>
          <a:prstGeom prst="roundRect">
            <a:avLst>
              <a:gd name="adj" fmla="val 5000"/>
            </a:avLst>
          </a:prstGeom>
          <a:solidFill>
            <a:srgbClr val="ECF6F8"/>
          </a:solidFill>
          <a:ln w="12700">
            <a:solidFill>
              <a:srgbClr val="B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353312"/>
            <a:ext cx="45720" cy="1298448"/>
          </a:xfrm>
          <a:prstGeom prst="rect">
            <a:avLst/>
          </a:prstGeom>
          <a:solidFill>
            <a:srgbClr val="118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499616"/>
            <a:ext cx="5029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F3A"/>
                </a:solidFill>
                <a:latin typeface="Segoe UI Semibold"/>
              </a:rPr>
              <a:t>Making the busy check reliable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1810512"/>
            <a:ext cx="502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A5568"/>
                </a:solidFill>
                <a:latin typeface="Segoe UI"/>
              </a:rPr>
              <a:t>A race between claiming and releasing a destination caused intermittent failures. Fixed with a mutex-guarded set and a release on every exit path.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34640"/>
            <a:ext cx="5468112" cy="1298448"/>
          </a:xfrm>
          <a:prstGeom prst="roundRect">
            <a:avLst>
              <a:gd name="adj" fmla="val 5000"/>
            </a:avLst>
          </a:prstGeom>
          <a:solidFill>
            <a:srgbClr val="ECF6F8"/>
          </a:solidFill>
          <a:ln w="12700">
            <a:solidFill>
              <a:srgbClr val="B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2834640"/>
            <a:ext cx="45720" cy="1298448"/>
          </a:xfrm>
          <a:prstGeom prst="rect">
            <a:avLst/>
          </a:prstGeom>
          <a:solidFill>
            <a:srgbClr val="118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2980944"/>
            <a:ext cx="5029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F3A"/>
                </a:solidFill>
                <a:latin typeface="Segoe UI Semibold"/>
              </a:rPr>
              <a:t>Thread-safe logging with a live progress bar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3291840"/>
            <a:ext cx="502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A5568"/>
                </a:solidFill>
                <a:latin typeface="Segoe UI"/>
              </a:rPr>
              <a:t>Concurrent sessions interleaved their writes into garbled lines. Fixed with a logging mutex and in-place redraw of a single progress line.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15968"/>
            <a:ext cx="5468112" cy="1298448"/>
          </a:xfrm>
          <a:prstGeom prst="roundRect">
            <a:avLst>
              <a:gd name="adj" fmla="val 5000"/>
            </a:avLst>
          </a:prstGeom>
          <a:solidFill>
            <a:srgbClr val="ECF6F8"/>
          </a:solidFill>
          <a:ln w="12700">
            <a:solidFill>
              <a:srgbClr val="B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4315968"/>
            <a:ext cx="45720" cy="1298448"/>
          </a:xfrm>
          <a:prstGeom prst="rect">
            <a:avLst/>
          </a:prstGeom>
          <a:solidFill>
            <a:srgbClr val="118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462272"/>
            <a:ext cx="5029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F3A"/>
                </a:solidFill>
                <a:latin typeface="Segoe UI Semibold"/>
              </a:rPr>
              <a:t>MinGW and OpenSSL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4773168"/>
            <a:ext cx="502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A5568"/>
                </a:solidFill>
                <a:latin typeface="Segoe UI"/>
              </a:rPr>
              <a:t>FindOpenSSL ignores MinGW's libssl.a, and the build failed silently with 0xC0000135 from missing runtime DLLs. Fixed with a header/library search fallback and automatic DLL staging.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73368" y="1353312"/>
            <a:ext cx="5468112" cy="1298448"/>
          </a:xfrm>
          <a:prstGeom prst="roundRect">
            <a:avLst>
              <a:gd name="adj" fmla="val 5000"/>
            </a:avLst>
          </a:prstGeom>
          <a:solidFill>
            <a:srgbClr val="ECF6F8"/>
          </a:solidFill>
          <a:ln w="12700">
            <a:solidFill>
              <a:srgbClr val="B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73368" y="1353312"/>
            <a:ext cx="45720" cy="1298448"/>
          </a:xfrm>
          <a:prstGeom prst="rect">
            <a:avLst/>
          </a:prstGeom>
          <a:solidFill>
            <a:srgbClr val="118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92824" y="1499616"/>
            <a:ext cx="5029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F3A"/>
                </a:solidFill>
                <a:latin typeface="Segoe UI Semibold"/>
              </a:rPr>
              <a:t>Certificate lookup from any directory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92824" y="1810512"/>
            <a:ext cx="502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A5568"/>
                </a:solidFill>
                <a:latin typeface="Segoe UI"/>
              </a:rPr>
              <a:t>Verification failed when the client ran from elsewhere. Fixed by looking next to the executable and printing the resolved path before connecting.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73368" y="2834640"/>
            <a:ext cx="5468112" cy="1298448"/>
          </a:xfrm>
          <a:prstGeom prst="roundRect">
            <a:avLst>
              <a:gd name="adj" fmla="val 5000"/>
            </a:avLst>
          </a:prstGeom>
          <a:solidFill>
            <a:srgbClr val="ECF6F8"/>
          </a:solidFill>
          <a:ln w="12700">
            <a:solidFill>
              <a:srgbClr val="B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73368" y="2834640"/>
            <a:ext cx="45720" cy="1298448"/>
          </a:xfrm>
          <a:prstGeom prst="rect">
            <a:avLst/>
          </a:prstGeom>
          <a:solidFill>
            <a:srgbClr val="118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92824" y="2980944"/>
            <a:ext cx="5029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F3A"/>
                </a:solidFill>
                <a:latin typeface="Segoe UI Semibold"/>
              </a:rPr>
              <a:t>Async handler chains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92824" y="3291840"/>
            <a:ext cx="502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A5568"/>
                </a:solidFill>
                <a:latin typeface="Segoe UI"/>
              </a:rPr>
              <a:t>Keeping exactly one operation in flight per session, without a deadlock or a use-after-free when a session is aborted mid-chain.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73368" y="4315968"/>
            <a:ext cx="5468112" cy="1298448"/>
          </a:xfrm>
          <a:prstGeom prst="roundRect">
            <a:avLst>
              <a:gd name="adj" fmla="val 5000"/>
            </a:avLst>
          </a:prstGeom>
          <a:solidFill>
            <a:srgbClr val="ECF6F8"/>
          </a:solidFill>
          <a:ln w="12700">
            <a:solidFill>
              <a:srgbClr val="B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73368" y="4315968"/>
            <a:ext cx="45720" cy="1298448"/>
          </a:xfrm>
          <a:prstGeom prst="rect">
            <a:avLst/>
          </a:prstGeom>
          <a:solidFill>
            <a:srgbClr val="118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92824" y="4462272"/>
            <a:ext cx="5029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F3A"/>
                </a:solidFill>
                <a:latin typeface="Segoe UI Semibold"/>
              </a:rPr>
              <a:t>Verifying from the outside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92824" y="4773168"/>
            <a:ext cx="502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A5568"/>
                </a:solidFill>
                <a:latin typeface="Segoe UI"/>
              </a:rPr>
              <a:t>Every real defect came from running real transfers, not from reading the code. That is now how I test my own work.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6A8"/>
                </a:solidFill>
                <a:latin typeface="Segoe UI"/>
              </a:rPr>
              <a:t>Secure Resumable File Transfer  ·  v1.0.0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10367" y="6437376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6A8"/>
                </a:solidFill>
                <a:latin typeface="Segoe UI"/>
              </a:rPr>
              <a:t>19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69264"/>
            <a:ext cx="12191695" cy="50292"/>
          </a:xfrm>
          <a:prstGeom prst="rect">
            <a:avLst/>
          </a:prstGeom>
          <a:solidFill>
            <a:srgbClr val="B5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7160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7EB4F0"/>
                </a:solidFill>
                <a:latin typeface="Segoe UI Semibold"/>
              </a:rPr>
              <a:t>13  ·  WHAT IS NOT BUILT YET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74904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 Semibold"/>
              </a:rPr>
              <a:t>Limitations and Future Scope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325880"/>
            <a:ext cx="5532120" cy="3931920"/>
          </a:xfrm>
          <a:prstGeom prst="roundRect">
            <a:avLst>
              <a:gd name="adj" fmla="val 4000"/>
            </a:avLst>
          </a:prstGeom>
          <a:solidFill>
            <a:srgbClr val="FD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325880"/>
            <a:ext cx="50292" cy="3931920"/>
          </a:xfrm>
          <a:prstGeom prst="rect">
            <a:avLst/>
          </a:prstGeom>
          <a:solidFill>
            <a:srgbClr val="B5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472184"/>
            <a:ext cx="5166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F3A"/>
                </a:solidFill>
                <a:latin typeface="Segoe UI Semibold"/>
              </a:rPr>
              <a:t>Current limitations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1856232"/>
            <a:ext cx="5148072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200">
                <a:solidFill>
                  <a:srgbClr val="1E6FD9"/>
                </a:solidFill>
                <a:latin typeface="Segoe UI"/>
              </a:rPr>
              <a:t>•  </a:t>
            </a:r>
            <a:r>
              <a:rPr sz="1200" b="1">
                <a:solidFill>
                  <a:srgbClr val="0B1F3A"/>
                </a:solidFill>
                <a:latin typeface="Segoe UI Semibold"/>
              </a:rPr>
              <a:t>No download path. </a:t>
            </a:r>
            <a:r>
              <a:rPr sz="1200">
                <a:solidFill>
                  <a:srgbClr val="4A5568"/>
                </a:solidFill>
                <a:latin typeface="Segoe UI"/>
              </a:rPr>
              <a:t>  The client can only upload; retrieval is the highest-value feature to add next.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200">
                <a:solidFill>
                  <a:srgbClr val="1E6FD9"/>
                </a:solidFill>
                <a:latin typeface="Segoe UI"/>
              </a:rPr>
              <a:t>•  </a:t>
            </a:r>
            <a:r>
              <a:rPr sz="1200" b="1">
                <a:solidFill>
                  <a:srgbClr val="0B1F3A"/>
                </a:solidFill>
                <a:latin typeface="Segoe UI Semibold"/>
              </a:rPr>
              <a:t>The server authenticates nobody. </a:t>
            </a:r>
            <a:r>
              <a:rPr sz="1200">
                <a:solidFill>
                  <a:srgbClr val="4A5568"/>
                </a:solidFill>
                <a:latin typeface="Segoe UI"/>
              </a:rPr>
              <a:t>  No accounts, no authorisation, no per-user quota.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200">
                <a:solidFill>
                  <a:srgbClr val="1E6FD9"/>
                </a:solidFill>
                <a:latin typeface="Segoe UI"/>
              </a:rPr>
              <a:t>•  </a:t>
            </a:r>
            <a:r>
              <a:rPr sz="1200" b="1">
                <a:solidFill>
                  <a:srgbClr val="0B1F3A"/>
                </a:solidFill>
                <a:latin typeface="Segoe UI Semibold"/>
              </a:rPr>
              <a:t>The device-driver component of the brief is not covered. </a:t>
            </a:r>
            <a:r>
              <a:rPr sz="1200">
                <a:solidFill>
                  <a:srgbClr val="4A5568"/>
                </a:solidFill>
                <a:latin typeface="Segoe UI"/>
              </a:rPr>
              <a:t>  The system is C++20 with system-level networking but contains no kernel module.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200">
                <a:solidFill>
                  <a:srgbClr val="1E6FD9"/>
                </a:solidFill>
                <a:latin typeface="Segoe UI"/>
              </a:rPr>
              <a:t>•  </a:t>
            </a:r>
            <a:r>
              <a:rPr sz="1200" b="1">
                <a:solidFill>
                  <a:srgbClr val="0B1F3A"/>
                </a:solidFill>
                <a:latin typeface="Segoe UI Semibold"/>
              </a:rPr>
              <a:t>The protocol is not versioned. </a:t>
            </a:r>
            <a:r>
              <a:rPr sz="1200">
                <a:solidFill>
                  <a:srgbClr val="4A5568"/>
                </a:solidFill>
                <a:latin typeface="Segoe UI"/>
              </a:rPr>
              <a:t>  A client and a server must be the same build.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200">
                <a:solidFill>
                  <a:srgbClr val="1E6FD9"/>
                </a:solidFill>
                <a:latin typeface="Segoe UI"/>
              </a:rPr>
              <a:t>•  </a:t>
            </a:r>
            <a:r>
              <a:rPr sz="1200" b="1">
                <a:solidFill>
                  <a:srgbClr val="0B1F3A"/>
                </a:solidFill>
                <a:latin typeface="Segoe UI Semibold"/>
              </a:rPr>
              <a:t>Verification gaps. </a:t>
            </a:r>
            <a:r>
              <a:rPr sz="1200">
                <a:solidFill>
                  <a:srgbClr val="4A5568"/>
                </a:solidFill>
                <a:latin typeface="Segoe UI"/>
              </a:rPr>
              <a:t>  The 997-file bulk run and a cross-machine transfer are not done; no Linux or macOS run has been performed locally.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56832" y="1325880"/>
            <a:ext cx="4956048" cy="3931920"/>
          </a:xfrm>
          <a:prstGeom prst="roundRect">
            <a:avLst>
              <a:gd name="adj" fmla="val 4000"/>
            </a:avLst>
          </a:prstGeom>
          <a:solidFill>
            <a:srgbClr val="E7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56832" y="1325880"/>
            <a:ext cx="50292" cy="393192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76288" y="1472184"/>
            <a:ext cx="459028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F3A"/>
                </a:solidFill>
                <a:latin typeface="Segoe UI Semibold"/>
              </a:rPr>
              <a:t>Planned next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76288" y="1856232"/>
            <a:ext cx="457200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200">
                <a:solidFill>
                  <a:srgbClr val="1E6FD9"/>
                </a:solidFill>
                <a:latin typeface="Segoe UI"/>
              </a:rPr>
              <a:t>•  </a:t>
            </a:r>
            <a:r>
              <a:rPr sz="1200">
                <a:solidFill>
                  <a:srgbClr val="4A5568"/>
                </a:solidFill>
                <a:latin typeface="Segoe UI"/>
              </a:rPr>
              <a:t/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200">
                <a:solidFill>
                  <a:srgbClr val="1E6FD9"/>
                </a:solidFill>
                <a:latin typeface="Segoe UI"/>
              </a:rPr>
              <a:t>•  </a:t>
            </a:r>
            <a:r>
              <a:rPr sz="1200">
                <a:solidFill>
                  <a:srgbClr val="4A5568"/>
                </a:solidFill>
                <a:latin typeface="Segoe UI"/>
              </a:rPr>
              <a:t/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200">
                <a:solidFill>
                  <a:srgbClr val="1E6FD9"/>
                </a:solidFill>
                <a:latin typeface="Segoe UI"/>
              </a:rPr>
              <a:t>•  </a:t>
            </a:r>
            <a:r>
              <a:rPr sz="1200">
                <a:solidFill>
                  <a:srgbClr val="4A5568"/>
                </a:solidFill>
                <a:latin typeface="Segoe UI"/>
              </a:rPr>
              <a:t/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200">
                <a:solidFill>
                  <a:srgbClr val="1E6FD9"/>
                </a:solidFill>
                <a:latin typeface="Segoe UI"/>
              </a:rPr>
              <a:t>•  </a:t>
            </a:r>
            <a:r>
              <a:rPr sz="1200">
                <a:solidFill>
                  <a:srgbClr val="4A5568"/>
                </a:solidFill>
                <a:latin typeface="Segoe UI"/>
              </a:rPr>
              <a:t/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200">
                <a:solidFill>
                  <a:srgbClr val="1E6FD9"/>
                </a:solidFill>
                <a:latin typeface="Segoe UI"/>
              </a:rPr>
              <a:t>•  </a:t>
            </a:r>
            <a:r>
              <a:rPr sz="1200">
                <a:solidFill>
                  <a:srgbClr val="4A5568"/>
                </a:solidFill>
                <a:latin typeface="Segoe UI"/>
              </a:rPr>
              <a:t/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200">
                <a:solidFill>
                  <a:srgbClr val="1E6FD9"/>
                </a:solidFill>
                <a:latin typeface="Segoe UI"/>
              </a:rPr>
              <a:t>•  </a:t>
            </a:r>
            <a:r>
              <a:rPr sz="1200">
                <a:solidFill>
                  <a:srgbClr val="4A5568"/>
                </a:solidFill>
                <a:latin typeface="Segoe UI"/>
              </a:rPr>
              <a:t/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200">
                <a:solidFill>
                  <a:srgbClr val="1E6FD9"/>
                </a:solidFill>
                <a:latin typeface="Segoe UI"/>
              </a:rPr>
              <a:t>•  </a:t>
            </a:r>
            <a:r>
              <a:rPr sz="1200">
                <a:solidFill>
                  <a:srgbClr val="4A5568"/>
                </a:solidFill>
                <a:latin typeface="Segoe UI"/>
              </a:rPr>
              <a:t/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6A8"/>
                </a:solidFill>
                <a:latin typeface="Segoe UI"/>
              </a:rPr>
              <a:t>Secure Resumable File Transfer  ·  v1.0.0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10367" y="6437376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6A8"/>
                </a:solidFill>
                <a:latin typeface="Segoe UI"/>
              </a:rPr>
              <a:t>20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69264"/>
            <a:ext cx="12191695" cy="50292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7160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7EB4F0"/>
                </a:solidFill>
                <a:latin typeface="Segoe UI Semibold"/>
              </a:rPr>
              <a:t>14  ·  FIVE MINUTES, LIVE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74904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 Semibold"/>
              </a:rPr>
              <a:t>Demonstration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371600"/>
            <a:ext cx="8503920" cy="1060704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9808" y="170992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536192"/>
            <a:ext cx="749807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B1F3A"/>
                </a:solidFill>
                <a:latin typeface="Segoe UI Semibold"/>
              </a:rPr>
              <a:t>Clean build and a single transfer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847088"/>
            <a:ext cx="74980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A5568"/>
                </a:solidFill>
                <a:latin typeface="Segoe UI"/>
              </a:rPr>
              <a:t>Generate the certificate, configure, build, start the server, send an 8 MB file. The client prints the throughput and the server confirms the hash.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560320"/>
            <a:ext cx="8503920" cy="1060704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9808" y="289864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724912"/>
            <a:ext cx="749807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B1F3A"/>
                </a:solidFill>
                <a:latin typeface="Segoe UI Semibold"/>
              </a:rPr>
              <a:t>Interrupt and resume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035808"/>
            <a:ext cx="74980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A5568"/>
                </a:solidFill>
                <a:latin typeface="Segoe UI"/>
              </a:rPr>
              <a:t>Start a 220 MB upload, kill the client mid-transfer, re-run the same command. The server reports the bytes it already holds and the transfer continues from there.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749040"/>
            <a:ext cx="8503920" cy="1060704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9808" y="408736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913632"/>
            <a:ext cx="749807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B1F3A"/>
                </a:solidFill>
                <a:latin typeface="Segoe UI Semibold"/>
              </a:rPr>
              <a:t>Concurrent clients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224528"/>
            <a:ext cx="74980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A5568"/>
                </a:solidFill>
                <a:latin typeface="Segoe UI"/>
              </a:rPr>
              <a:t>Run four uploads at once. All four complete intact, and a fifth asking for a busy destination is refused as busy with a non-zero exit.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937760"/>
            <a:ext cx="8503920" cy="1060704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9808" y="527608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102352"/>
            <a:ext cx="749807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B1F3A"/>
                </a:solidFill>
                <a:latin typeface="Segoe UI Semibold"/>
              </a:rPr>
              <a:t>Integrity failure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413248"/>
            <a:ext cx="74980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A5568"/>
                </a:solidFill>
                <a:latin typeface="Segoe UI"/>
              </a:rPr>
              <a:t>Tamper with a stored file. The digest no longer matches, so the file is deleted and the client exits non-zero.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26880" y="1371600"/>
            <a:ext cx="2286000" cy="2103120"/>
          </a:xfrm>
          <a:prstGeom prst="roundRect">
            <a:avLst>
              <a:gd name="adj" fmla="val 4000"/>
            </a:avLst>
          </a:prstGeom>
          <a:solidFill>
            <a:srgbClr val="EC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326880" y="1371600"/>
            <a:ext cx="50292" cy="2103120"/>
          </a:xfrm>
          <a:prstGeom prst="rect">
            <a:avLst/>
          </a:prstGeom>
          <a:solidFill>
            <a:srgbClr val="118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46336" y="1517904"/>
            <a:ext cx="1920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F3A"/>
                </a:solidFill>
                <a:latin typeface="Segoe UI Semibold"/>
              </a:rPr>
              <a:t>Before the demo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46336" y="1901952"/>
            <a:ext cx="1901952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100">
                <a:solidFill>
                  <a:srgbClr val="1E6FD9"/>
                </a:solidFill>
                <a:latin typeface="Segoe UI"/>
              </a:rPr>
              <a:t>•  </a:t>
            </a:r>
            <a:r>
              <a:rPr sz="1100">
                <a:solidFill>
                  <a:srgbClr val="4A5568"/>
                </a:solidFill>
                <a:latin typeface="Segoe UI"/>
              </a:rPr>
              <a:t/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100">
                <a:solidFill>
                  <a:srgbClr val="1E6FD9"/>
                </a:solidFill>
                <a:latin typeface="Segoe UI"/>
              </a:rPr>
              <a:t>•  </a:t>
            </a:r>
            <a:r>
              <a:rPr sz="1100">
                <a:solidFill>
                  <a:srgbClr val="4A5568"/>
                </a:solidFill>
                <a:latin typeface="Segoe UI"/>
              </a:rPr>
              <a:t/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100">
                <a:solidFill>
                  <a:srgbClr val="1E6FD9"/>
                </a:solidFill>
                <a:latin typeface="Segoe UI"/>
              </a:rPr>
              <a:t>•  </a:t>
            </a:r>
            <a:r>
              <a:rPr sz="1100">
                <a:solidFill>
                  <a:srgbClr val="4A5568"/>
                </a:solidFill>
                <a:latin typeface="Segoe UI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3657600"/>
            <a:ext cx="2286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A5568"/>
                </a:solidFill>
                <a:latin typeface="Segoe UI"/>
              </a:rPr>
              <a:t>Steps 2 to 4 are the ones that separate this from a file copy.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6A8"/>
                </a:solidFill>
                <a:latin typeface="Segoe UI"/>
              </a:rPr>
              <a:t>Secure Resumable File Transfer  ·  v1.0.0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10367" y="6437376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6A8"/>
                </a:solidFill>
                <a:latin typeface="Segoe UI"/>
              </a:rPr>
              <a:t>21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69264"/>
            <a:ext cx="12191695" cy="50292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7160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7EB4F0"/>
                </a:solidFill>
                <a:latin typeface="Segoe UI Semibold"/>
              </a:rPr>
              <a:t>14  ·  WHAT WAS DELIVERED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74904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 Semibold"/>
              </a:rP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71600"/>
            <a:ext cx="7498079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300">
                <a:solidFill>
                  <a:srgbClr val="1E6FD9"/>
                </a:solidFill>
                <a:latin typeface="Segoe UI"/>
              </a:rPr>
              <a:t>•  </a:t>
            </a:r>
            <a:r>
              <a:rPr sz="1300" b="1">
                <a:solidFill>
                  <a:srgbClr val="0B1F3A"/>
                </a:solidFill>
                <a:latin typeface="Segoe UI Semibold"/>
              </a:rPr>
              <a:t>A working secure file transfer system.</a:t>
            </a:r>
            <a:r>
              <a:rPr sz="1300">
                <a:solidFill>
                  <a:srgbClr val="4A5568"/>
                </a:solidFill>
                <a:latin typeface="Segoe UI"/>
              </a:rPr>
              <a:t>  A C++20 client–server uploader with end-to-end TLS, automatic resumption after a dropped connection, and SHA-256 verification on every upload.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300">
                <a:solidFill>
                  <a:srgbClr val="1E6FD9"/>
                </a:solidFill>
                <a:latin typeface="Segoe UI"/>
              </a:rPr>
              <a:t>•  </a:t>
            </a:r>
            <a:r>
              <a:rPr sz="1300" b="1">
                <a:solidFill>
                  <a:srgbClr val="0B1F3A"/>
                </a:solidFill>
                <a:latin typeface="Segoe UI Semibold"/>
              </a:rPr>
              <a:t>Deliberate engineering decisions.</a:t>
            </a:r>
            <a:r>
              <a:rPr sz="1300">
                <a:solidFill>
                  <a:srgbClr val="4A5568"/>
                </a:solidFill>
                <a:latin typeface="Segoe UI"/>
              </a:rPr>
              <a:t>  Six documented layers with one-directional dependencies, an asynchronous design that serves many clients from a 2–4 thread pool, and one writer per destination.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300">
                <a:solidFill>
                  <a:srgbClr val="1E6FD9"/>
                </a:solidFill>
                <a:latin typeface="Segoe UI"/>
              </a:rPr>
              <a:t>•  </a:t>
            </a:r>
            <a:r>
              <a:rPr sz="1300" b="1">
                <a:solidFill>
                  <a:srgbClr val="0B1F3A"/>
                </a:solidFill>
                <a:latin typeface="Segoe UI Semibold"/>
              </a:rPr>
              <a:t>Proven, not asserted.</a:t>
            </a:r>
            <a:r>
              <a:rPr sz="1300">
                <a:solidFill>
                  <a:srgbClr val="4A5568"/>
                </a:solidFill>
                <a:latin typeface="Segoe UI"/>
              </a:rPr>
              <a:t>  51 automated end-to-end checks over real TLS, all 20 functional requirements traced to evidence, 8 real defects found and fixed, and ~267 MB/s measured on loopback.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300">
                <a:solidFill>
                  <a:srgbClr val="1E6FD9"/>
                </a:solidFill>
                <a:latin typeface="Segoe UI"/>
              </a:rPr>
              <a:t>•  </a:t>
            </a:r>
            <a:r>
              <a:rPr sz="1300" b="1">
                <a:solidFill>
                  <a:srgbClr val="0B1F3A"/>
                </a:solidFill>
                <a:latin typeface="Segoe UI Semibold"/>
              </a:rPr>
              <a:t>Reproducible anywhere.</a:t>
            </a:r>
            <a:r>
              <a:rPr sz="1300">
                <a:solidFill>
                  <a:srgbClr val="4A5568"/>
                </a:solidFill>
                <a:latin typeface="Segoe UI"/>
              </a:rPr>
              <a:t>  One CMake project builds and tests on Linux and Windows; GitHub Actions verifies both on every push, and tagged releases publish signed checksums.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300">
                <a:solidFill>
                  <a:srgbClr val="1E6FD9"/>
                </a:solidFill>
                <a:latin typeface="Segoe UI"/>
              </a:rPr>
              <a:t>•  </a:t>
            </a:r>
            <a:r>
              <a:rPr sz="1300" b="1">
                <a:solidFill>
                  <a:srgbClr val="0B1F3A"/>
                </a:solidFill>
                <a:latin typeface="Segoe UI Semibold"/>
              </a:rPr>
              <a:t>Documented for review.</a:t>
            </a:r>
            <a:r>
              <a:rPr sz="1300">
                <a:solidFill>
                  <a:srgbClr val="4A5568"/>
                </a:solidFill>
                <a:latin typeface="Segoe UI"/>
              </a:rPr>
              <a:t>  PRD, architecture, UML, development plan, test plan, changelog, contribution guide, security policy and code of conduct, all in the repository.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1371600"/>
            <a:ext cx="3063240" cy="1060704"/>
          </a:xfrm>
          <a:prstGeom prst="roundRect">
            <a:avLst>
              <a:gd name="adj" fmla="val 6000"/>
            </a:avLst>
          </a:prstGeom>
          <a:solidFill>
            <a:srgbClr val="E8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49640" y="1499616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1E6FD9"/>
                </a:solidFill>
                <a:latin typeface="Segoe UI Semibold"/>
              </a:rPr>
              <a:t>1,701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59368" y="1993392"/>
            <a:ext cx="2843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4A5568"/>
                </a:solidFill>
                <a:latin typeface="Segoe UI"/>
              </a:rPr>
              <a:t>lines of C++ across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4A5568"/>
                </a:solidFill>
                <a:latin typeface="Segoe UI"/>
              </a:rPr>
              <a:t>11 files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49640" y="2542032"/>
            <a:ext cx="3063240" cy="1060704"/>
          </a:xfrm>
          <a:prstGeom prst="roundRect">
            <a:avLst>
              <a:gd name="adj" fmla="val 6000"/>
            </a:avLst>
          </a:prstGeom>
          <a:solidFill>
            <a:srgbClr val="E7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49640" y="2670048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1E8E5A"/>
                </a:solidFill>
                <a:latin typeface="Segoe UI Semibold"/>
              </a:rPr>
              <a:t>51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59368" y="3163824"/>
            <a:ext cx="2843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4A5568"/>
                </a:solidFill>
                <a:latin typeface="Segoe UI"/>
              </a:rPr>
              <a:t>automated checks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4A5568"/>
                </a:solidFill>
                <a:latin typeface="Segoe UI"/>
              </a:rPr>
              <a:t>50 passed, 1 skipped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49640" y="3712464"/>
            <a:ext cx="3063240" cy="1060704"/>
          </a:xfrm>
          <a:prstGeom prst="roundRect">
            <a:avLst>
              <a:gd name="adj" fmla="val 6000"/>
            </a:avLst>
          </a:prstGeom>
          <a:solidFill>
            <a:srgbClr val="FD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384048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B56E00"/>
                </a:solidFill>
                <a:latin typeface="Segoe UI Semibold"/>
              </a:rP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59368" y="4334256"/>
            <a:ext cx="2843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4A5568"/>
                </a:solidFill>
                <a:latin typeface="Segoe UI"/>
              </a:rPr>
              <a:t>defects found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4A5568"/>
                </a:solidFill>
                <a:latin typeface="Segoe UI"/>
              </a:rPr>
              <a:t>and fixed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49640" y="4882896"/>
            <a:ext cx="3063240" cy="1060704"/>
          </a:xfrm>
          <a:prstGeom prst="roundRect">
            <a:avLst>
              <a:gd name="adj" fmla="val 6000"/>
            </a:avLst>
          </a:prstGeom>
          <a:solidFill>
            <a:srgbClr val="EC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5010912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118AA0"/>
                </a:solidFill>
                <a:latin typeface="Segoe UI Semibol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59368" y="5504688"/>
            <a:ext cx="2843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4A5568"/>
                </a:solidFill>
                <a:latin typeface="Segoe UI"/>
              </a:rPr>
              <a:t>platforms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4A5568"/>
                </a:solidFill>
                <a:latin typeface="Segoe UI"/>
              </a:rPr>
              <a:t>Linux and Windows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18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965960"/>
            <a:ext cx="9966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200" b="1" i="0">
                <a:solidFill>
                  <a:srgbClr val="FFFFFF"/>
                </a:solidFill>
                <a:latin typeface="Segoe UI Semibold"/>
              </a:rP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5410047" y="2999232"/>
            <a:ext cx="1371600" cy="45720"/>
          </a:xfrm>
          <a:prstGeom prst="rect">
            <a:avLst/>
          </a:prstGeom>
          <a:solidFill>
            <a:srgbClr val="118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291840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 i="0">
                <a:solidFill>
                  <a:srgbClr val="B8CADE"/>
                </a:solidFill>
                <a:latin typeface="Segoe UI"/>
              </a:rPr>
              <a:t>Questions and feedback are welcome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77639"/>
            <a:ext cx="9966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118AA0"/>
                </a:solidFill>
                <a:latin typeface="Segoe UI"/>
              </a:rPr>
              <a:t>Secure Resumable File Transfer  ·  C++20  ·  TLS 1.2+  ·  SHA-256  ·  CMake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03320" y="4526280"/>
            <a:ext cx="4782312" cy="566928"/>
          </a:xfrm>
          <a:prstGeom prst="roundRect">
            <a:avLst>
              <a:gd name="adj" fmla="val 10000"/>
            </a:avLst>
          </a:prstGeom>
          <a:solidFill>
            <a:srgbClr val="102849"/>
          </a:solidFill>
          <a:ln w="12700">
            <a:solidFill>
              <a:srgbClr val="2C5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4681728"/>
            <a:ext cx="4782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Consolas"/>
              </a:rPr>
              <a:t>github.com/zexxitywave/File-transfer-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440680"/>
            <a:ext cx="9966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8A96A8"/>
                </a:solidFill>
                <a:latin typeface="Segoe UI"/>
              </a:rPr>
              <a:t>[ Your Name ]  ·  [ Roll No ]  ·  [ Department, College ]  ·  Guide: [ Faculty Name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