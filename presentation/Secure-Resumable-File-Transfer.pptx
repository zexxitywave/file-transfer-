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68335" y="0"/>
            <a:ext cx="4023360" cy="6858000"/>
          </a:xfrm>
          <a:prstGeom prst="rect">
            <a:avLst/>
          </a:prstGeom>
          <a:solidFill>
            <a:srgbClr val="10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704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2C8D8"/>
                </a:solidFill>
                <a:latin typeface="Segoe UI Semibold"/>
              </a:rPr>
              <a:t>CAPSTONE PROJECT  ·  SECURE FILE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7040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800" b="1" i="0">
                <a:solidFill>
                  <a:srgbClr val="FFFFFF"/>
                </a:solidFill>
                <a:latin typeface="Segoe UI Semibold"/>
              </a:rPr>
              <a:t>Secure Resumable</a:t>
            </a:r>
          </a:p>
          <a:p>
            <a:pPr algn="l">
              <a:lnSpc>
                <a:spcPct val="95000"/>
              </a:lnSpc>
            </a:pPr>
            <a:r>
              <a:rPr sz="4800" b="1" i="0">
                <a:solidFill>
                  <a:srgbClr val="FFFFFF"/>
                </a:solidFill>
                <a:latin typeface="Segoe UI Semibold"/>
              </a:rPr>
              <a:t>File Transfer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73552"/>
            <a:ext cx="1371600" cy="4572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547872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B8CADE"/>
                </a:solidFill>
                <a:latin typeface="Segoe UI"/>
              </a:rPr>
              <a:t>A C++20 client–server file transfer tool with end-to-end TLS encryption, automatic resumption after a dropped connection, and SHA-256 integrity verification on every upload.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C++20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TLS 1.2+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SHA-256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Resumable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41848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CMake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51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1255" y="13716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18AA0"/>
                </a:solidFill>
                <a:latin typeface="Segoe UI Semibold"/>
              </a:rPr>
              <a:t>Presented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171907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zexxitywave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8CADE"/>
                </a:solidFill>
                <a:latin typeface="Segoe UI"/>
              </a:rPr>
              <a:t>Project author and maintainer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1255" y="27432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2855" y="2715768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github.com/zexxitywave/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File-transfer-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1255" y="3273552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246120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1.0.0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71255" y="3584448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Language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2855" y="3557016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C++20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71255" y="3895344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Platforms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2855" y="3867912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Windows and Linux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42855" y="4178808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51 end-to-end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1255" y="4517136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License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42855" y="4489704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8704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6A8"/>
                </a:solidFill>
                <a:latin typeface="Segoe UI"/>
              </a:rPr>
              <a:t>Secure Resumable File Transfer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01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The Problem, and the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Why a conventional FTP upload is not good enough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68580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Cleartext on the wire.</a:t>
            </a:r>
            <a:r>
              <a:rPr sz="1350">
                <a:solidFill>
                  <a:srgbClr val="4A5568"/>
                </a:solidFill>
                <a:latin typeface="Segoe UI"/>
              </a:rPr>
              <a:t>  FTP sends the username, the password and the file contents in plain text. Anyone on the path can read all of it.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No resumption.</a:t>
            </a:r>
            <a:r>
              <a:rPr sz="1350">
                <a:solidFill>
                  <a:srgbClr val="4A5568"/>
                </a:solidFill>
                <a:latin typeface="Segoe UI"/>
              </a:rPr>
              <a:t>  A dropped connection restarts the transfer from byte zero. On a large file that wastes the bandwidth and the time already spent.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Unverified delivery.</a:t>
            </a:r>
            <a:r>
              <a:rPr sz="1350">
                <a:solidFill>
                  <a:srgbClr val="4A5568"/>
                </a:solidFill>
                <a:latin typeface="Segoe UI"/>
              </a:rPr>
              <a:t>  Most tools declare success once a write() call returns. Nothing proves the bytes that landed on disk are correct.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Silent corruption under concurrency.</a:t>
            </a:r>
            <a:r>
              <a:rPr sz="1350">
                <a:solidFill>
                  <a:srgbClr val="4A5568"/>
                </a:solidFill>
                <a:latin typeface="Segoe UI"/>
              </a:rPr>
              <a:t>  Two clients writing the same destination interleave their chunks into one mangled file, with no error.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Unsafe file names.</a:t>
            </a:r>
            <a:r>
              <a:rPr sz="1350">
                <a:solidFill>
                  <a:srgbClr val="4A5568"/>
                </a:solidFill>
                <a:latin typeface="Segoe UI"/>
              </a:rPr>
              <a:t>  A name containing path separators lets the client choose where it writes on the server.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280160"/>
            <a:ext cx="3931920" cy="3474720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0" y="1280160"/>
            <a:ext cx="50292" cy="347472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0416" y="14173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What the brief asked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0416" y="1773936"/>
            <a:ext cx="3547872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 secure, system-level file transfer service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Encrypted transport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Reliability over an unreliable network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Provable data integrity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Multiple simultaneous clients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5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5102352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8E5A"/>
                </a:solidFill>
                <a:latin typeface="Segoe UI Semibold"/>
              </a:rPr>
              <a:t>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367528"/>
            <a:ext cx="106006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0B1F3A"/>
                </a:solidFill>
                <a:latin typeface="Segoe UI"/>
              </a:rPr>
              <a:t>A TLS-encrypted client–server uploader that resumes an interrupted transfer from the last byte the server already holds, verifies every upload with SHA-256, and refuses unsafe requests before writing a byte.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02  · 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Objectives and Scope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80160"/>
            <a:ext cx="5532120" cy="3108960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80160"/>
            <a:ext cx="50292" cy="3108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417320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In scope — what the system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73936"/>
            <a:ext cx="5148072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Encrypt all traffic with TLS 1.2 or newer, using SNI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Verify the server certificate by default: chain and host name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Resume an interrupted upload from the last stored byte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Verify integrity with SHA-256 after every transfer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Serve several clients concurrently from a small thread pool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Reject unsafe file names before anything is written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Build and test on Linux and Windows from one CMake 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56832" y="1280160"/>
            <a:ext cx="4956048" cy="3108960"/>
          </a:xfrm>
          <a:prstGeom prst="roundRect">
            <a:avLst>
              <a:gd name="adj" fmla="val 4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56832" y="1280160"/>
            <a:ext cx="50292" cy="3108960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6288" y="14173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Out of scope — deliberately not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773936"/>
            <a:ext cx="4572000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Download or retrieval. The client can only upload.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Authentication. The server accepts any client that can reach the port.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Authorisation or per-user accounts.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Bulk directory synchronisation.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 kernel-mode device driver, which the brief also asked for.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Requirement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956048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4A5568"/>
                </a:solidFill>
                <a:latin typeface="Segoe UI"/>
              </a:rPr>
              <a:t>All 20 functional and 12 non-functional requirements are listed in docs/PRD.md, and every one is traced to the automated check that covers it in docs/TEST_PLAN.md — there is no requirement without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03  ·  WHAT IT IS BUILT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Technology Stack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98448"/>
          <a:ext cx="11057838" cy="35844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19419"/>
                <a:gridCol w="2211567"/>
                <a:gridCol w="6726852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Layer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Technology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Why it was chosen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Language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C++20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RAII and move semantics for safe manual memory management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Build system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CMake 3.15+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One project file builds MSVC, MinGW and GCC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Networking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Boost.Asio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Header-only, portable over WinSock and BSD sockets, fully async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Security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OpenSSL 3.x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Provides both the TLS transport and the EVP SHA-256 digest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Concurrency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std::thread pool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A shared io_context run on 2 to 4 worker threads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Testing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Bash + PowerShell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End-to-end scripts over real TLS, driven by CTest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CI/CD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GitHub Actions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Builds and tests both platforms on every push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029200"/>
            <a:ext cx="11057839" cy="786384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029200"/>
            <a:ext cx="1060063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56E00"/>
                </a:solidFill>
                <a:latin typeface="Segoe UI"/>
              </a:rPr>
              <a:t>Boost is headers only, so nothing Boost is linked. OpenSSL is linked, so both its headers and its libraries are required at build time. Measured on: Windows 11 x64 with GCC 16 (MSYS2 UCRT64, Ninja) and GCC 15.2 (MinGW-w64), OpenSSL 3.6.4, Boost 1.88, CMake 3.15+.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04  ·  SIX LAYERS, ONE-DIRECTIONAL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61872"/>
            <a:ext cx="45720" cy="676656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5331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353312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main.cpp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609344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Command line parsing, certificate discovery, event loop, exit codes. No protocol logic.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920240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29968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029968"/>
            <a:ext cx="45720" cy="676656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121408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18AA0"/>
                </a:solidFill>
                <a:latin typeface="Segoe UI Semibold"/>
              </a:rPr>
              <a:t>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67128" y="2121408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server.cpp  ·  client.cpp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77440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Accept and connect, own the TLS stream, drive the transfer.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88336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798064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2798064"/>
            <a:ext cx="45720" cy="67665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889504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E5A"/>
                </a:solidFill>
                <a:latin typeface="Segoe UI Semibold"/>
              </a:rPr>
              <a:t>Session logic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67128" y="2889504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serverSession.cpp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145536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The protocol state machine: validation, chunk loop, integrity verdict, filename policy.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456432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566160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566160"/>
            <a:ext cx="45720" cy="676656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3657600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6E00"/>
                </a:solidFill>
                <a:latin typeface="Segoe UI Semibold"/>
              </a:rPr>
              <a:t>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3657600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checksum.cpp  ·  logging.hpp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3913632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Incremental SHA-256; thread-safe logging with a terminal-aware progress bar.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22452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34256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334256"/>
            <a:ext cx="45720" cy="676656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4425696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3357"/>
                </a:solidFill>
                <a:latin typeface="Segoe UI Semibold"/>
              </a:rPr>
              <a:t>Contract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67128" y="4425696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protocol.hpp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4681728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Wire constants and status codes — the only vocabulary both sides share. No logic, so they cannot disagree.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4992624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102352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102352"/>
            <a:ext cx="45720" cy="676656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19379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5568"/>
                </a:solidFill>
                <a:latin typeface="Segoe UI Semibold"/>
              </a:rPr>
              <a:t>Build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67128" y="5193792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CMakeLists.txt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449824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Dependency discovery, TLS asset staging, MinGW runtime staging, CTest registration.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75904" y="1261872"/>
            <a:ext cx="3236976" cy="1828800"/>
          </a:xfrm>
          <a:prstGeom prst="roundRect">
            <a:avLst>
              <a:gd name="adj" fmla="val 4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375904" y="1261872"/>
            <a:ext cx="50292" cy="18288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0" y="1399032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Codebase size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1755648"/>
            <a:ext cx="2852928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11 files, 1,701 lines of C++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6 headers (359 lines), 5 sources (1,342 lines)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Largest file: serverSession.cpp, 495 lines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75904" y="3218688"/>
            <a:ext cx="3236976" cy="2121408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75904" y="3218688"/>
            <a:ext cx="50292" cy="2121408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0" y="3355848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Design rules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3712464"/>
            <a:ext cx="285292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Dependencies point one way only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protocol.hpp and logging.hpp use nothing from the project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Server is non-copyable by design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Default port 9000, default host 127.0.0.1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05  ·  THE CONTRACT BETWEEN CLIENT AND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Wire Protocol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6858000" cy="3273552"/>
          </a:xfrm>
          <a:prstGeom prst="roundRect">
            <a:avLst>
              <a:gd name="adj" fmla="val 3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91440" bIns="91440"/>
          <a:lstStyle/>
          <a:p>
            <a:pPr algn="ctr"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client                                  server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uint32  name_len ---------------------&gt;|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name_len bytes  filename 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|---- 64 bytes  hex SHA-256 -----------------&gt;|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uint64  file_size ---------------------&gt;|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                                           |  the whole request is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                                           |  validated BEFORE anything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                                           |  is stored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|&lt;--- 1 byte  status (proceed / refused) ----|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|&lt;--- uint64  resume_offset -----------------|  only when proceeding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payload, 64 KB chunks 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|&lt;--- 1 byte  status (verified / failed) ----|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298448"/>
            <a:ext cx="40233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Validate, then refuse.</a:t>
            </a:r>
            <a:r>
              <a:rPr sz="1200">
                <a:solidFill>
                  <a:srgbClr val="4A5568"/>
                </a:solidFill>
                <a:latin typeface="Segoe UI"/>
              </a:rPr>
              <a:t>  A rejection is reported as a status byte, never as a misleading resume offset — otherwise a refused client would read the offset as truth and corrupt its file.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Host byte order, one write per scalar.</a:t>
            </a:r>
            <a:r>
              <a:rPr sz="1200">
                <a:solidFill>
                  <a:srgbClr val="4A5568"/>
                </a:solidFill>
                <a:latin typeface="Segoe UI"/>
              </a:rPr>
              <a:t>  This removes struct padding as a source of corruption.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The stored file length IS the resume offset.</a:t>
            </a:r>
            <a:r>
              <a:rPr sz="1200">
                <a:solidFill>
                  <a:srgbClr val="4A5568"/>
                </a:solidFill>
                <a:latin typeface="Segoe UI"/>
              </a:rPr>
              <a:t>  Uploads are saved as received_&lt;name&gt;, so there is no separate checkpoint to keep consistent.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Five status codes.</a:t>
            </a:r>
            <a:r>
              <a:rPr sz="1200">
                <a:solidFill>
                  <a:srgbClr val="4A5568"/>
                </a:solidFill>
                <a:latin typeface="Segoe UI"/>
              </a:rPr>
              <a:t>  proceed / ok, checksum mismatch, rejected, busy, 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91456"/>
            <a:ext cx="11057839" cy="768096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910328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56E00"/>
                </a:solidFill>
                <a:latin typeface="Segoe UI Semibold"/>
              </a:rPr>
              <a:t>Known limitation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175504"/>
            <a:ext cx="106006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0B1F3A"/>
                </a:solidFill>
                <a:latin typeface="Segoe UI"/>
              </a:rPr>
              <a:t>The protocol is not versioned, so a client and a server must be the same build. A version byte in the header is the first thing to add.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06  ·  SECURE BY DEFAULT, AND PROVABLE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Core Features — Encryption and Integrity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80160"/>
            <a:ext cx="5532120" cy="3200400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80160"/>
            <a:ext cx="50292" cy="32004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417320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Encrypted and verified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73936"/>
            <a:ext cx="5148072" cy="2596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TLS 1.2 or newer via OpenSSL, with SNI; SSLv2 and SSLv3 disabled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Chain AND host name verified by default, IP literals such as 127.0.0.1 included, via a custom host-verify callback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Fail closed — with no CA to verify against, the client refuses to start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No silent downgrade — --insecure exists for troubleshooting and warns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The CA is found next to the executable, then in ./tls_key, and the resolved path is printed before connecting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The server refuses to start without a certificate and a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56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Proven integrity, not reported integrity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56832" y="166420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166420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81051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Client hashes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73736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SHA-256 of the source, streamed through OpenSSL EVP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30428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56832" y="230428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45059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Client declares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the 64-character hex digest leads the request header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56832" y="294436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56832" y="294436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09067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Server hashes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01752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the stored bytes as they arrive, same EVP 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56832" y="358444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56832" y="358444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73075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Server compares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65760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computed against declared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56832" y="422452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56832" y="4224528"/>
            <a:ext cx="45720" cy="54864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437083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E5A"/>
                </a:solidFill>
                <a:latin typeface="Segoe UI Semibold"/>
              </a:rPr>
              <a:t>Verdict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29768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match → success, exit 0;  mismatch → file deleted, non-zero exit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4663440"/>
            <a:ext cx="495604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Bounded memory.</a:t>
            </a:r>
            <a:r>
              <a:rPr sz="1150">
                <a:solidFill>
                  <a:srgbClr val="4A5568"/>
                </a:solidFill>
                <a:latin typeface="Segoe UI"/>
              </a:rPr>
              <a:t>  The digest is computed incrementally through a 64 KB buffer, so hashing a 64 GiB file costs the same memory as hashing 64 KB.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A mismatch deletes the evidence.</a:t>
            </a:r>
            <a:r>
              <a:rPr sz="1150">
                <a:solidFill>
                  <a:srgbClr val="4A5568"/>
                </a:solidFill>
                <a:latin typeface="Segoe UI"/>
              </a:rPr>
              <a:t>  The stored file is removed, so a later resume cannot build on corrupt bytes. Tested by deliberately tampering with a stored file and checking it is rejected.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06  ·  RELIABLE OVER A BAD LINK, SAFE UNDER 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Core Features — Resumption and 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61872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Automatic resumption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Client starts the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202996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57984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Connection is lost mid-transfer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560320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88336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Client reconnects, re-sends the header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2888" y="3090672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18688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Server replies with its resume offset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3621024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49040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Only the missing bytes are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8" y="4151376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79392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Transfer completes and is verified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55464"/>
            <a:ext cx="4206240" cy="1463040"/>
          </a:xfrm>
          <a:prstGeom prst="roundRect">
            <a:avLst>
              <a:gd name="adj" fmla="val 5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974336"/>
            <a:ext cx="3749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18AA0"/>
                </a:solidFill>
                <a:latin typeface="Segoe UI Semibold"/>
              </a:rPr>
              <a:t>Derived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239512"/>
            <a:ext cx="3749040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0B1F3A"/>
                </a:solidFill>
                <a:latin typeface="Segoe UI"/>
              </a:rPr>
              <a:t>No checkpoint file: the resume offset is simply the current size of received_&lt;name&gt; on disk, so there is no extra state to corrupt and it survives a server restart for free. A stored copy larger than the source is treated as stale and restarted from zero.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261872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Concurrent and write-safe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627632"/>
            <a:ext cx="649224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Worker pool of 2 to 4 threads.</a:t>
            </a:r>
            <a:r>
              <a:rPr sz="1200">
                <a:solidFill>
                  <a:srgbClr val="4A5568"/>
                </a:solidFill>
                <a:latin typeface="Segoe UI"/>
              </a:rPr>
              <a:t>  min(4, hardware_concurrency) with a floor of 2, all running one shared io_context. The client runs a single thread.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One operation in flight per session.</a:t>
            </a:r>
            <a:r>
              <a:rPr sz="1200">
                <a:solidFill>
                  <a:srgbClr val="4A5568"/>
                </a:solidFill>
                <a:latin typeface="Segoe UI"/>
              </a:rPr>
              <a:t>  Each step is asynchronous, so a session's handlers are serialised by construction rather than by a lock, and a slow client never occupies a worker.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A 64 KB chunk buffer, allocated once per session</a:t>
            </a:r>
            <a:r>
              <a:rPr sz="1200">
                <a:solidFill>
                  <a:srgbClr val="4A5568"/>
                </a:solidFill>
                <a:latin typeface="Segoe UI"/>
              </a:rPr>
              <a:t>  and reused for every chunk, so there is no per-chunk allocation.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One writer per destination.</a:t>
            </a:r>
            <a:r>
              <a:rPr sz="1200">
                <a:solidFill>
                  <a:srgbClr val="4A5568"/>
                </a:solidFill>
                <a:latin typeface="Segoe UI"/>
              </a:rPr>
              <a:t>  A second client asking for a name already in use is refused as busy and exits non-zero, rather than writing over the transfer in progress. The claim is released on every exit path.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Minimal shared state.</a:t>
            </a:r>
            <a:r>
              <a:rPr sz="1200">
                <a:solidFill>
                  <a:srgbClr val="4A5568"/>
                </a:solidFill>
                <a:latin typeface="Segoe UI"/>
              </a:rPr>
              <a:t>  Only the destination claim set and the log are shared, both guarded by a mutex.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48828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992624"/>
            <a:ext cx="15361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449824"/>
            <a:ext cx="13533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concurrent uploads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verified intact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21424" y="48828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4992624"/>
            <a:ext cx="15361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6FD9"/>
                </a:solidFill>
                <a:latin typeface="Segoe UI Semibold"/>
              </a:rPr>
              <a:t>2–4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2864" y="5449824"/>
            <a:ext cx="13533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worker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threads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22208" y="48828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C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22208" y="4992624"/>
            <a:ext cx="15361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18AA0"/>
                </a:solidFill>
                <a:latin typeface="Segoe UI Semibold"/>
              </a:rPr>
              <a:t>64 KB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5449824"/>
            <a:ext cx="13533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chunk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size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22992" y="4882896"/>
            <a:ext cx="1389888" cy="1188720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22992" y="4992624"/>
            <a:ext cx="138988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B56E00"/>
                </a:solidFill>
                <a:latin typeface="Segoe UI Semibold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4432" y="5449824"/>
            <a:ext cx="1207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writer per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destination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07  ·  CONTROLS, AND THEIR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Security Design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80160"/>
          <a:ext cx="11057838" cy="33284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459"/>
                <a:gridCol w="8293379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Control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How it is implemented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Encrypted transport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TLS 1.2 or newer via OpenSSL, with SNI; SSLv2 and SSLv3 disabled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Certificate verification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Chain and host name checked by default, IP literals such as 127.0.0.1 included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No silent downgrade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--insecure is available for troubleshooting only, and prints a warning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Fail closed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The client refuses to start when it has no CA to verify against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Strict name validation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No path separators, no .., no control characters, no reserved device names; max 255 characters, max 64 GiB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Integrity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SHA-256 compared after every transfer; a mismatch deletes the stored file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Exclusive writes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One writer per destination; contention is refused as busy rather than overwritten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4626864"/>
            <a:ext cx="11057839" cy="877824"/>
          </a:xfrm>
          <a:prstGeom prst="roundRect">
            <a:avLst>
              <a:gd name="adj" fmla="val 5000"/>
            </a:avLst>
          </a:prstGeom>
          <a:solidFill>
            <a:srgbClr val="FCECEA"/>
          </a:solidFill>
          <a:ln w="12700">
            <a:solidFill>
              <a:srgbClr val="EE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45736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0392B"/>
                </a:solidFill>
                <a:latin typeface="Segoe UI Semibold"/>
              </a:rPr>
              <a:t>The honest limit: the server authenticates nobody.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010912"/>
            <a:ext cx="106006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0B1F3A"/>
                </a:solidFill>
                <a:latin typeface="Segoe UI"/>
              </a:rPr>
              <a:t>Any client that can reach the port may upload. The system must not be exposed to an untrusted network. docs/SECURITY.md documents the threat model and how to harden a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08  ·  VERIFICATION FROM THE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Testing and Measured Results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~267 MB/s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8 MB transfer on loopback,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digests matched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6FD9"/>
                </a:solidFill>
                <a:latin typeface="Segoe UI Semibold"/>
              </a:rPr>
              <a:t>0.03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wall-clock for that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8 MB transfer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C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16752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18AA0"/>
                </a:solidFill>
                <a:latin typeface="Segoe UI Semibold"/>
              </a:rPr>
              <a:t>220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interrupted then resumed,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final digest matched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41664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1664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4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automated checks: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50 passed, 1 skipped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4203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How it is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889504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No mocks and no unit-test framework.</a:t>
            </a:r>
            <a:r>
              <a:rPr sz="1100">
                <a:solidFill>
                  <a:srgbClr val="4A5568"/>
                </a:solidFill>
                <a:latin typeface="Segoe UI"/>
              </a:rPr>
              <a:t>  The suite starts a real server and drives real clients over real TLS, then checks the outcome from outside the process. Every defect on the next slide was found this way.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Registered with CTest,</a:t>
            </a:r>
            <a:r>
              <a:rPr sz="1100">
                <a:solidFill>
                  <a:srgbClr val="4A5568"/>
                </a:solidFill>
                <a:latin typeface="Segoe UI"/>
              </a:rPr>
              <a:t>  so CI and a developer run the identical thing. The Windows suite covers the whole requirement list; a Bash smoke test gives Linux CI one real transfer with an externally computed SHA-256.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Measured on three toolchain configurations,</a:t>
            </a:r>
            <a:r>
              <a:rPr sz="1100">
                <a:solidFill>
                  <a:srgbClr val="4A5568"/>
                </a:solidFill>
                <a:latin typeface="Segoe UI"/>
              </a:rPr>
              <a:t>  including a run with an empty PATH: 50 passed, 0 failed, 1 skipped. A real 14,466-byte PDF invoice was verified with an external SHA-256 tool and a byte-for-byte comparison.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75504"/>
            <a:ext cx="5852160" cy="658368"/>
          </a:xfrm>
          <a:prstGeom prst="roundRect">
            <a:avLst>
              <a:gd name="adj" fmla="val 5000"/>
            </a:avLst>
          </a:prstGeom>
          <a:solidFill>
            <a:srgbClr val="E8F1FD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175504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1E6FD9"/>
                </a:solidFill>
                <a:latin typeface="Segoe UI"/>
              </a:rPr>
              <a:t>Windows 11 Home x64  ·  GCC 16.x, MSYS2 UCRT64, Ninja  ·  GCC 15.2, MinGW-w64 (CLion)  ·  OpenSSL 3.6.4  ·  Boost 1.88 headers  ·  CMake 3.15+  ·  PowerShell 5.1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907024"/>
            <a:ext cx="5852160" cy="475488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5907024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B56E00"/>
                </a:solidFill>
                <a:latin typeface="Segoe UI"/>
              </a:rPr>
              <a:t>Not yet done: the full 997-file bulk run, and a cross-machine transfer.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56832" y="2542032"/>
          <a:ext cx="4956047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65020"/>
                <a:gridCol w="894842"/>
                <a:gridCol w="1996185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Test group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Checks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Covers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Command line handling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FR-17, FR-19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Clean transfer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FR-01, FR-02, FR-06, FR-14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Certificate verification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4+1 skip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FR-03, FR-04, FR-05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Integrity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FR-12, FR-13, FR-18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Resuming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FR-08, FR-09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Interruption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FR-20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Concurrency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FR-10, FR-11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B1F3A"/>
                          </a:solidFill>
                          <a:latin typeface="Segoe UI Semibold"/>
                        </a:rPr>
                        <a:t>Server with no certificate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4A5568"/>
                          </a:solidFill>
                          <a:latin typeface="Segoe UI"/>
                        </a:rPr>
                        <a:t>FR-16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6656832" y="4626864"/>
            <a:ext cx="4956048" cy="1371600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56832" y="4626864"/>
            <a:ext cx="50292" cy="13716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764024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Also verified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5120640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24 MB resume sent only the missing bytes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Four concurrent uploads, all intact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Every one of the 20 requirements traced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09  ·  WHAT TESTING ACTUALLY CAUGHT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Defects Found and Fixed by the Suite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167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5544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435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Server could not replace a stale upload on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8105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 leftover partial file blocked the next transfer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2311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24688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23500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 killed client's failure was invisible to the test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7249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The suite passed while the client had died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55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33832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32644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The busy check failed intermittently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36393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 race between claiming and releasing a destination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0599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42976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1788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Concurrent sessions produced garbled log 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45537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Interleaved writes from several threads on one 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73368" y="13167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9672" y="15544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1435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 redirected server log was buried under progress updates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18105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Progress is now drawn only when the output is a terminal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73368" y="22311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9672" y="24688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0296" y="23500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Transfer rate printed as 0.0286102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0296" y="27249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 floating-point formatting defect, now two decimals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3368" y="31455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9672" y="33832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0296" y="32644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The MinGW build produced no output and returned instantly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0296" y="36393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Exit code 0xC0000135 from missing runtime DLLs; now staged by the build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73368" y="40599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9672" y="42976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0296" y="41788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Client failed to verify the certificate from another directory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0296" y="45537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The CA is now looked up next to the executable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138928"/>
            <a:ext cx="11057839" cy="731520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5257800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6E00"/>
                </a:solidFill>
                <a:latin typeface="Segoe UI Semibold"/>
              </a:rPr>
              <a:t>Defect 7 was the worst-shaped of the eight.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522976"/>
            <a:ext cx="10600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0B1F3A"/>
                </a:solidFill>
                <a:latin typeface="Segoe UI"/>
              </a:rPr>
              <a:t>It printed nothing, returned success, and only appeared on MinGW. It is the reason CI runs the same MinGW toolchain as the local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10  ·  AUTOMATED VERIFICATION, DELIBERATE CHOICES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CI/CD Pipeline and Design Decisions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532120" cy="2121408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61872"/>
            <a:ext cx="50292" cy="21214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39903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ci.yml — every push and pull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55648"/>
            <a:ext cx="514807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Linux (ubuntu-latest): install dependencies, generate the certificate, configure Release with Ninja, build, run the smoke test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Windows (MSYS2 UCRT64): the same toolchain family as the local build, so CI catches MinGW-specific problems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Runs the full ctest suite; uploads logs and received files as artefacts on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56832" y="1261872"/>
            <a:ext cx="4956048" cy="2121408"/>
          </a:xfrm>
          <a:prstGeom prst="roundRect">
            <a:avLst>
              <a:gd name="adj" fmla="val 4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56832" y="1261872"/>
            <a:ext cx="50292" cy="2121408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6288" y="1399032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release.yml — on a v* 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755648"/>
            <a:ext cx="4572000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verify: greps the version out of CMakeLists.txt and fails the release if the tag does not match it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Builds and tests both platforms, then packages a Linux tar.gz and a Windows zip containing every DLL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Generates SHA256SUMS.txt and publishes only when all jobs succeed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295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Design decisions: what was chosen, and what was rejected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3877056"/>
          <a:ext cx="832103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3982"/>
                <a:gridCol w="1977276"/>
                <a:gridCol w="3789780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Rejected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Reason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Async, one operation in flight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Thread per connection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thread per client cannot scale, and a blocking session pins a worker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Resume offset = stored file length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checkpoint file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No extra state to corrupt, and it survives a server restart for free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Validate the header, then refuse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Accept, then discover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refusal must never be mistakable for a resume instruction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One writer per destination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Last-writer-wins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Stops two clients silently interleaving chunks into one corrupt file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Incremental EVP hashing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Load the file into memory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Bounded memory: 64 GiB costs the same as 64 KB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Host byte order, one write per scalar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packed struct on the wire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Removes struct padding as a source of corruption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9052560" y="3877056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2560" y="3877056"/>
            <a:ext cx="50292" cy="219456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40142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Also in the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370832"/>
            <a:ext cx="2176272" cy="1591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Dependabot v2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Bug and feature issue templates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Pull request template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The version lives only in CMakeLists.txt, so a build and a release cannot drift apart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11  ·  THE HARD PARTS, AND WHAT IS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Challenges, Limitations and Future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61872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Challenges faced, and what they taught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55321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Making the busy check reliable.</a:t>
            </a:r>
            <a:r>
              <a:rPr sz="1150">
                <a:solidFill>
                  <a:srgbClr val="4A5568"/>
                </a:solidFill>
                <a:latin typeface="Segoe UI"/>
              </a:rPr>
              <a:t>  A race between claiming and releasing a destination caused intermittent failures; fixed with a mutex-guarded set and a release on every exit path.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Thread-safe logging with a live progress bar.</a:t>
            </a:r>
            <a:r>
              <a:rPr sz="1150">
                <a:solidFill>
                  <a:srgbClr val="4A5568"/>
                </a:solidFill>
                <a:latin typeface="Segoe UI"/>
              </a:rPr>
              <a:t>  Concurrent sessions interleaved their writes into garbled lines; fixed with a logging mutex and in-place redraw.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MinGW and OpenSSL.</a:t>
            </a:r>
            <a:r>
              <a:rPr sz="1150">
                <a:solidFill>
                  <a:srgbClr val="4A5568"/>
                </a:solidFill>
                <a:latin typeface="Segoe UI"/>
              </a:rPr>
              <a:t>  FindOpenSSL ignores MinGW's libssl.a, and the build failed silently with 0xC0000135; fixed with a header and library search fallback plus automatic DLL staging.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Certificate lookup from any directory.</a:t>
            </a:r>
            <a:r>
              <a:rPr sz="1150">
                <a:solidFill>
                  <a:srgbClr val="4A5568"/>
                </a:solidFill>
                <a:latin typeface="Segoe UI"/>
              </a:rPr>
              <a:t>  Verification failed when the client ran from elsewhere; fixed by looking next to the executable and printing the resolved path before connecting.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Async handler chains.</a:t>
            </a:r>
            <a:r>
              <a:rPr sz="1150">
                <a:solidFill>
                  <a:srgbClr val="4A5568"/>
                </a:solidFill>
                <a:latin typeface="Segoe UI"/>
              </a:rPr>
              <a:t>  Keeping exactly one operation in flight without a deadlock or a use-after-free when a session is aborted mid-chain.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The lesson:</a:t>
            </a:r>
            <a:r>
              <a:rPr sz="1150">
                <a:solidFill>
                  <a:srgbClr val="4A5568"/>
                </a:solidFill>
                <a:latin typeface="Segoe UI"/>
              </a:rPr>
              <a:t>  every real defect came from running real transfers, not from reading the code. That is now how I test my own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56832" y="1261872"/>
            <a:ext cx="4956048" cy="2761488"/>
          </a:xfrm>
          <a:prstGeom prst="roundRect">
            <a:avLst>
              <a:gd name="adj" fmla="val 4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56832" y="1261872"/>
            <a:ext cx="50292" cy="2761488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399032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Current 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1755648"/>
            <a:ext cx="4572000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No download path.</a:t>
            </a:r>
            <a:r>
              <a:rPr sz="1100">
                <a:solidFill>
                  <a:srgbClr val="4A5568"/>
                </a:solidFill>
                <a:latin typeface="Segoe UI"/>
              </a:rPr>
              <a:t>  The client can only upload; retrieval is the highest-value feature to add.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The server authenticates nobody.</a:t>
            </a:r>
            <a:r>
              <a:rPr sz="1100">
                <a:solidFill>
                  <a:srgbClr val="4A5568"/>
                </a:solidFill>
                <a:latin typeface="Segoe UI"/>
              </a:rPr>
              <a:t>  No accounts, no authorisation.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The device-driver component of the brief is not covered.</a:t>
            </a:r>
            <a:r>
              <a:rPr sz="1100">
                <a:solidFill>
                  <a:srgbClr val="4A5568"/>
                </a:solidFill>
                <a:latin typeface="Segoe UI"/>
              </a:rPr>
              <a:t>  The system is C++20 with system-level networking but has no kernel module.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The protocol is not versioned,</a:t>
            </a:r>
            <a:r>
              <a:rPr sz="1100">
                <a:solidFill>
                  <a:srgbClr val="4A5568"/>
                </a:solidFill>
                <a:latin typeface="Segoe UI"/>
              </a:rPr>
              <a:t>  so client and server must be the same build. The 997-file bulk run and a cross-machine transfer are not done.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6832" y="4151376"/>
            <a:ext cx="4956048" cy="1865376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6832" y="4151376"/>
            <a:ext cx="50292" cy="186537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4288536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Planned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4645152"/>
            <a:ext cx="457200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Download with the same integrity model, and resumable downloads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Mutual TLS, so the server can authenticate the client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Directory sync and multi-file transfers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A version byte in the header, then Linux and macOS releases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12  ·  FIVE MINUTES,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Demonstration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9844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63677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Clean build and a single transfer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7393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Generate the certificate, configure, build, start the server, send an 8 MB file. The client prints the throughput and the server confirms the hash.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8716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82549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5176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Interrupt and resume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6265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Start a 220 MB upload, kill the client mid-transfer, re-run the same command. The server reports the bytes it already holds and the transfer continues from there.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7588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01421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Concurrent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15137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Run four uploads at once. All four complete intact, and a fifth asking for a busy destination is refused as busy with a non-zero exit.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6460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520293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Integrity failure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34009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Tamper with a stored file. The digest no longer matches, so the file is deleted and the client exits non-zero.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1298448"/>
            <a:ext cx="2286000" cy="2011680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1298448"/>
            <a:ext cx="50292" cy="201168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46336" y="143560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Before the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6" y="1792224"/>
            <a:ext cx="1901952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Clean build directory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Certificate present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Test files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4930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5568"/>
                </a:solidFill>
                <a:latin typeface="Segoe UI"/>
              </a:rPr>
              <a:t>Steps 2 to 4 are the ones that separate this from a file copy.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0" y="4480560"/>
            <a:ext cx="2286000" cy="1371600"/>
          </a:xfrm>
          <a:prstGeom prst="roundRect">
            <a:avLst>
              <a:gd name="adj" fmla="val 3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91440" bIns="91440"/>
          <a:lstStyle/>
          <a:p>
            <a:pPr algn="ctr"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./FTP server 9000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[SERVER] Listening on 9000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  (TLS enabled)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$ ./FTP client ../note.txt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[SUCCESS] Server verified the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  file (hash matches)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12  ·  WHAT WAS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35024"/>
            <a:ext cx="749807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A working secure file transfer system.</a:t>
            </a:r>
            <a:r>
              <a:rPr sz="1300">
                <a:solidFill>
                  <a:srgbClr val="4A5568"/>
                </a:solidFill>
                <a:latin typeface="Segoe UI"/>
              </a:rPr>
              <a:t>  A C++20 client–server uploader with end-to-end TLS, automatic resumption after a dropped connection, and SHA-256 verification on every upload.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Deliberate engineering decisions.</a:t>
            </a:r>
            <a:r>
              <a:rPr sz="1300">
                <a:solidFill>
                  <a:srgbClr val="4A5568"/>
                </a:solidFill>
                <a:latin typeface="Segoe UI"/>
              </a:rPr>
              <a:t>  Six documented layers with one-directional dependencies, an asynchronous design that serves many clients from a 2 to 4 thread pool, and one writer per destination.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Proven, not asserted.</a:t>
            </a:r>
            <a:r>
              <a:rPr sz="1300">
                <a:solidFill>
                  <a:srgbClr val="4A5568"/>
                </a:solidFill>
                <a:latin typeface="Segoe UI"/>
              </a:rPr>
              <a:t>  51 automated end-to-end checks over real TLS, all 20 functional requirements traced to evidence, 8 real defects found and fixed, and ~267 MB/s measured on loopback.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Reproducible anywhere.</a:t>
            </a:r>
            <a:r>
              <a:rPr sz="1300">
                <a:solidFill>
                  <a:srgbClr val="4A5568"/>
                </a:solidFill>
                <a:latin typeface="Segoe UI"/>
              </a:rPr>
              <a:t>  One CMake project builds and tests on Linux and Windows; GitHub Actions verifies both on every push, and tagged releases publish checksums.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Documented for review.</a:t>
            </a:r>
            <a:r>
              <a:rPr sz="1300">
                <a:solidFill>
                  <a:srgbClr val="4A5568"/>
                </a:solidFill>
                <a:latin typeface="Segoe UI"/>
              </a:rPr>
              <a:t>  PRD, architecture, UML, development plan, test plan, changelog, contribution guide, security policy and code of conduct, all in the repository.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1335024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444752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6FD9"/>
                </a:solidFill>
                <a:latin typeface="Segoe UI Semibold"/>
              </a:rPr>
              <a:t>1,701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901952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lines of C++ across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11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2505456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615184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072384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automated checks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50 passed, 1 skipped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75888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785616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B56E00"/>
                </a:solidFill>
                <a:latin typeface="Segoe UI Semibold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4242816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defects found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and fixed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4846320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EC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4956048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18AA0"/>
                </a:solidFill>
                <a:latin typeface="Segoe UI Semi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5413248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platforms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Linux and Windows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614416"/>
            <a:ext cx="11057839" cy="566928"/>
          </a:xfrm>
          <a:prstGeom prst="roundRect">
            <a:avLst>
              <a:gd name="adj" fmla="val 5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614416"/>
            <a:ext cx="1060063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E8E5A"/>
                </a:solidFill>
                <a:latin typeface="Segoe UI"/>
              </a:rPr>
              <a:t>Thank you — questions and feedback are welcome.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9966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10047" y="2816352"/>
            <a:ext cx="1371600" cy="4572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B8CADE"/>
                </a:solidFill>
                <a:latin typeface="Segoe UI"/>
              </a:rPr>
              <a:t>Questions and feedback are welcome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767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118AA0"/>
                </a:solidFill>
                <a:latin typeface="Segoe UI"/>
              </a:rPr>
              <a:t>Secure Resumable File Transfer  ·  C++20  ·  TLS 1.2+  ·  SHA-256  ·  CMake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4315968"/>
            <a:ext cx="4782312" cy="566928"/>
          </a:xfrm>
          <a:prstGeom prst="roundRect">
            <a:avLst>
              <a:gd name="adj" fmla="val 10000"/>
            </a:avLst>
          </a:prstGeom>
          <a:solidFill>
            <a:srgbClr val="102849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github.com/zexxitywave/File-transfer-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23036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A96A8"/>
                </a:solidFill>
                <a:latin typeface="Segoe UI"/>
              </a:rPr>
              <a:t>Presented by zexxitywave  ·  Maintainer, Secure Resumable File Transfer  ·  MIT licensed  ·  Version 1.0.0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41264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4A5A70"/>
                </a:solidFill>
                <a:latin typeface="Segoe UI"/>
              </a:rPr>
              <a:t>Source, docs, tests and CI: github.com/zexxitywave/File-transfer-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